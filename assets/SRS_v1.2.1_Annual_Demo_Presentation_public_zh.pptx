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2"/>
  </p:handoutMasterIdLst>
  <p:sldIdLst>
    <p:sldId id="1166" r:id="rId3"/>
    <p:sldId id="1167" r:id="rId11"/>
    <p:sldId id="1168" r:id="rId10"/>
    <p:sldId id="1169" r:id="rId9"/>
    <p:sldId id="1170" r:id="rId8"/>
    <p:sldId id="1171" r:id="rId7"/>
    <p:sldId id="1172" r:id="rId6"/>
    <p:sldId id="1173" r:id="rId4"/>
    <p:sldId id="1174" r:id="rId18"/>
    <p:sldId id="1175" r:id="rId19"/>
    <p:sldId id="1176" r:id="rId20"/>
    <p:sldId id="1177" r:id="rId21"/>
    <p:sldId id="1178" r:id="rId22"/>
    <p:sldId id="1179" r:id="rId23"/>
    <p:sldId id="1180" r:id="rId24"/>
    <p:sldId id="1181" r:id="rId25"/>
  </p:sldIdLst>
  <p:sldSz cx="12192000" cy="6858000"/>
  <p:notesSz cx="6760845" cy="9942195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27" userDrawn="1">
          <p15:clr>
            <a:srgbClr val="A4A3A4"/>
          </p15:clr>
        </p15:guide>
        <p15:guide id="3" orient="horz" pos="510" userDrawn="1">
          <p15:clr>
            <a:srgbClr val="A4A3A4"/>
          </p15:clr>
        </p15:guide>
        <p15:guide id="4" orient="horz" pos="4167" userDrawn="1">
          <p15:clr>
            <a:srgbClr val="A4A3A4"/>
          </p15:clr>
        </p15:guide>
        <p15:guide id="5" pos="3792" userDrawn="1">
          <p15:clr>
            <a:srgbClr val="A4A3A4"/>
          </p15:clr>
        </p15:guide>
        <p15:guide id="6" pos="4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al G" initials="oG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FFF2CC"/>
    <a:srgbClr val="328CCC"/>
    <a:srgbClr val="1F4E79"/>
    <a:srgbClr val="0070C0"/>
    <a:srgbClr val="00CC99"/>
    <a:srgbClr val="0000FF"/>
    <a:srgbClr val="0033CC"/>
    <a:srgbClr val="3333FF"/>
    <a:srgbClr val="FAD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5214D10-5B40-41DD-951B-74BEDB90B27B}" styleName="表样式 1 14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FFD147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FFD147">
              <a:lumMod val="40000"/>
              <a:lumOff val="60000"/>
              <a:alpha val="25000"/>
            </a:srgbClr>
          </a:solidFill>
        </a:fill>
      </a:tcStyle>
    </a:band1V>
    <a:band2V>
      <a:tcTxStyle>
        <a:fontRef idx="none">
          <a:prstClr val="black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D147">
              <a:lumMod val="40000"/>
              <a:lumOff val="60000"/>
              <a:alpha val="5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D147">
              <a:lumMod val="40000"/>
              <a:lumOff val="60000"/>
              <a:alpha val="50000"/>
            </a:srgbClr>
          </a:solidFill>
        </a:fill>
      </a:tcStyle>
    </a:firstCol>
    <a:lastRow>
      <a:tcTxStyle b="on">
        <a:fontRef idx="none">
          <a:srgbClr val="FFD147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9525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9525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rgbClr val="FFD147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9525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D147">
              <a:lumMod val="40000"/>
              <a:lumOff val="60000"/>
              <a:alpha val="50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82003" autoAdjust="0"/>
  </p:normalViewPr>
  <p:slideViewPr>
    <p:cSldViewPr snapToGrid="0" showGuides="1">
      <p:cViewPr varScale="1">
        <p:scale>
          <a:sx n="132" d="100"/>
          <a:sy n="132" d="100"/>
        </p:scale>
        <p:origin x="1176" y="76"/>
      </p:cViewPr>
      <p:guideLst>
        <p:guide pos="7227"/>
        <p:guide orient="horz" pos="510"/>
        <p:guide orient="horz" pos="4167"/>
        <p:guide pos="3792"/>
        <p:guide pos="431"/>
      </p:guideLst>
    </p:cSldViewPr>
  </p:slideViewPr>
  <p:outlineViewPr>
    <p:cViewPr>
      <p:scale>
        <a:sx n="33" d="100"/>
        <a:sy n="33" d="100"/>
      </p:scale>
      <p:origin x="0" y="-20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373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8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commentAuthors" Target="commentAuthors.xml"/><Relationship Id="rId17" Type="http://schemas.openxmlformats.org/officeDocument/2006/relationships/tags" Target="tags/tag2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8A1EB-DF80-4003-9E04-BB41220F66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4ADD2-1C5F-4428-A769-085903AC60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D2994-5314-4CA4-A74E-B0F38D7EB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4EF57-AF72-4489-BD0E-8A7EE71D79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封面。本演示基于 v1.2.1 年度验收候选版; 截图采自 Windows 实际安装的程序; 演示数据为固定种子的合成数据。课题二/三部分方法细节仍待陈亮、宋伟杰老师确认, 已按冻结基线执行并登记。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逐条说明 C1–C6。C1 方法对齐: 本版冻结 M-REC-2025 并列出 10 项待确认事项与 18 个问题草稿(未发送)。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强调分离: 课题二 28 项指标也是修复前数据, 有独立批次; 修复后 SSUI 与修复后污染物检测只进入课题三。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演示: 安装路径含中文和空格; 首启空库; 升级 v1.1.0/v1.2.0→v1.2.1 在 GitHub Actions Windows(管理员账户)上实测; 便携版数据写在 exe 同级 SRS_data。/CURRENTUSER 安装到当前用户目录; 标准(非管理员)测试账户经 CI 计划任务安装、启动、导入/评价通过, 甲方 Windows 10/11 实机尚未测试。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C5: 进入追溯页面不需要先选场地。v1.2.1 起把“七项软件操作里程碑”与“五阶段业务记录”分开: 软件操作 7/7 不等于调查、审批、施工、效果评估、管护五阶段完成; 演示场地未上传业务材料, 五阶段均显示未开展。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演示场地 SRS-A(合成): 正式关键障碍因子 镉、铅、砷、铜、锌; 探索性 阳离子交换量、全氮(下限不足, 文献参考)。v1.2.1 修复: 阳离子交换量/全氮等为下限指标, 高值不再被判为障碍; 有机质(g/kg)与有机碳(%)分开, 不做换算; 单位不可换算即排除。模型 p3_alpha 未重训。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子课题个旧测试表: 81 点位; v1.1 只能解析 19 项数值列; v1.2 解析类别列并清洗 18 个数值文本单元格, 生产轨道 28 项全部可赋分。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演示两个夹具: F02 非法类别(拒绝); F05 常数列(告警, 可确认)。课题三单位错误定位到工作表/行/列。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 v1.2 对 v1.1 计算缺陷的更正, 以及 10 项待确认事项。不恢复旧缺陷, 也不凭推测补定义。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 SRS-A: 生产 SSUI 1.019189, 生态 0.968728; 与独立期望值逐个比对一致。方法未给 D1–D25 原始值→得分规则, 因此由课题组录入得分。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五个合成场地分别设计为五类结论。期望值由独立代码直接读官方阈值表计算, 不调用系统评价代码。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知识库 12 项 VOC 的 24 条记录与官方表1 全部一致; 氯甲烷/氯苯场景标签对调已更正; 旧版非标准替代阈值全部移除。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v1.2.1: 评价快照(SHA-256)保存在报告记录中, 之后的新数据不改变已出报告; 修复后两条轨道重复导入的同一批样品按样品编号去重; 场地级超标按阶段由法规门禁给出, 不再用最新批次校验代替; PDF 用 ReportLab 排版并嵌入中文字体。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顺序: 安装首启(2) → 课题一(3) → 课题二导入与校验(5) → 课题三(4) → 五类结论(4) → 追溯与报告(2)。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如实说明: 验收在 GitHub Actions Windows 虚拟机上执行(管理员账户); 标准账户测试为独立作业, 以计划任务身份运行, 不等同于甲方 Windows 10/11 实机。发布标签与源码、安装包、截图、文档为同一提交。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三项结论分开: 年度软件与演示就绪度(内部就绪, 非甲方验收结论); 科学方法验证(待确认); 真实修复后验证(待数据)。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16"/>
          <p:cNvSpPr txBox="1">
            <a:spLocks noChangeArrowheads="1"/>
          </p:cNvSpPr>
          <p:nvPr userDrawn="1"/>
        </p:nvSpPr>
        <p:spPr bwMode="auto">
          <a:xfrm>
            <a:off x="838975" y="22791"/>
            <a:ext cx="8355012" cy="649287"/>
          </a:xfrm>
          <a:prstGeom prst="rect">
            <a:avLst/>
          </a:prstGeom>
          <a:noFill/>
          <a:ln>
            <a:noFill/>
          </a:ln>
          <a:effectLst/>
        </p:spPr>
        <p:txBody>
          <a:bodyPr lIns="93911" tIns="46956" rIns="93911" bIns="46956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defTabSz="914400">
              <a:defRPr/>
            </a:pPr>
            <a:endParaRPr lang="zh-CN" altLang="en-US" sz="26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5" name="图形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0927" y="208671"/>
            <a:ext cx="328683" cy="30303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56196" y="104106"/>
            <a:ext cx="438834" cy="539339"/>
            <a:chOff x="8626" y="110647"/>
            <a:chExt cx="438834" cy="539339"/>
          </a:xfrm>
        </p:grpSpPr>
        <p:sp>
          <p:nvSpPr>
            <p:cNvPr id="7" name="矩形: 剪去单角 6"/>
            <p:cNvSpPr/>
            <p:nvPr userDrawn="1"/>
          </p:nvSpPr>
          <p:spPr>
            <a:xfrm>
              <a:off x="8626" y="110647"/>
              <a:ext cx="438833" cy="539339"/>
            </a:xfrm>
            <a:prstGeom prst="snip1Rect">
              <a:avLst/>
            </a:prstGeom>
            <a:gradFill flip="none" rotWithShape="1">
              <a:gsLst>
                <a:gs pos="33000">
                  <a:srgbClr val="A8502A"/>
                </a:gs>
                <a:gs pos="94000">
                  <a:srgbClr val="C58C2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直角三角形 8"/>
            <p:cNvSpPr/>
            <p:nvPr userDrawn="1"/>
          </p:nvSpPr>
          <p:spPr>
            <a:xfrm rot="16200000">
              <a:off x="306866" y="509392"/>
              <a:ext cx="140593" cy="14059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10" name="图形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7278" y="204196"/>
              <a:ext cx="261528" cy="241116"/>
            </a:xfrm>
            <a:prstGeom prst="rect">
              <a:avLst/>
            </a:prstGeom>
          </p:spPr>
        </p:pic>
        <p:cxnSp>
          <p:nvCxnSpPr>
            <p:cNvPr id="11" name="直接连接符 10"/>
            <p:cNvCxnSpPr/>
            <p:nvPr userDrawn="1"/>
          </p:nvCxnSpPr>
          <p:spPr>
            <a:xfrm flipV="1">
              <a:off x="353431" y="555036"/>
              <a:ext cx="94029" cy="94576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 userDrawn="1"/>
        </p:nvCxnSpPr>
        <p:spPr>
          <a:xfrm>
            <a:off x="685504" y="633740"/>
            <a:ext cx="11230271" cy="0"/>
          </a:xfrm>
          <a:prstGeom prst="line">
            <a:avLst/>
          </a:prstGeom>
          <a:ln w="19050" cap="rnd">
            <a:solidFill>
              <a:srgbClr val="A85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0927" y="208671"/>
            <a:ext cx="328683" cy="30303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256196" y="104106"/>
            <a:ext cx="438834" cy="539339"/>
            <a:chOff x="8626" y="110647"/>
            <a:chExt cx="438834" cy="539339"/>
          </a:xfrm>
        </p:grpSpPr>
        <p:sp>
          <p:nvSpPr>
            <p:cNvPr id="4" name="矩形: 剪去单角 3"/>
            <p:cNvSpPr/>
            <p:nvPr userDrawn="1"/>
          </p:nvSpPr>
          <p:spPr>
            <a:xfrm>
              <a:off x="8626" y="110647"/>
              <a:ext cx="438833" cy="539339"/>
            </a:xfrm>
            <a:prstGeom prst="snip1Rect">
              <a:avLst/>
            </a:prstGeom>
            <a:gradFill flip="none" rotWithShape="1">
              <a:gsLst>
                <a:gs pos="33000">
                  <a:srgbClr val="A8502A"/>
                </a:gs>
                <a:gs pos="94000">
                  <a:srgbClr val="C58C2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6200000">
              <a:off x="306866" y="509392"/>
              <a:ext cx="140593" cy="14059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6" name="图形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7278" y="204196"/>
              <a:ext cx="261528" cy="241116"/>
            </a:xfrm>
            <a:prstGeom prst="rect">
              <a:avLst/>
            </a:prstGeom>
          </p:spPr>
        </p:pic>
        <p:cxnSp>
          <p:nvCxnSpPr>
            <p:cNvPr id="14" name="直接连接符 13"/>
            <p:cNvCxnSpPr/>
            <p:nvPr userDrawn="1"/>
          </p:nvCxnSpPr>
          <p:spPr>
            <a:xfrm flipV="1">
              <a:off x="353431" y="555036"/>
              <a:ext cx="94029" cy="94576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685504" y="633740"/>
            <a:ext cx="11230271" cy="0"/>
          </a:xfrm>
          <a:prstGeom prst="line">
            <a:avLst/>
          </a:prstGeom>
          <a:ln w="19050" cap="rnd">
            <a:solidFill>
              <a:srgbClr val="A85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 advClick="0" advTm="0">
        <p:fade/>
      </p:transition>
    </mc:Choice>
    <mc:Fallback>
      <p:transition advClick="0" advTm="0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0" y="-30480"/>
            <a:ext cx="12192000" cy="979211"/>
            <a:chOff x="0" y="-30480"/>
            <a:chExt cx="12192000" cy="979211"/>
          </a:xfrm>
        </p:grpSpPr>
        <p:grpSp>
          <p:nvGrpSpPr>
            <p:cNvPr id="9" name="组合 8"/>
            <p:cNvGrpSpPr/>
            <p:nvPr/>
          </p:nvGrpSpPr>
          <p:grpSpPr>
            <a:xfrm>
              <a:off x="0" y="-30480"/>
              <a:ext cx="12192000" cy="975258"/>
              <a:chOff x="0" y="0"/>
              <a:chExt cx="12192000" cy="975258"/>
            </a:xfrm>
          </p:grpSpPr>
          <p:sp>
            <p:nvSpPr>
              <p:cNvPr id="13" name="object 3"/>
              <p:cNvSpPr/>
              <p:nvPr/>
            </p:nvSpPr>
            <p:spPr>
              <a:xfrm flipV="1">
                <a:off x="0" y="0"/>
                <a:ext cx="12192000" cy="89189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12800">
                    <a:moveTo>
                      <a:pt x="9144000" y="0"/>
                    </a:moveTo>
                    <a:lnTo>
                      <a:pt x="0" y="0"/>
                    </a:lnTo>
                    <a:lnTo>
                      <a:pt x="0" y="812291"/>
                    </a:lnTo>
                    <a:lnTo>
                      <a:pt x="9144000" y="812291"/>
                    </a:lnTo>
                    <a:lnTo>
                      <a:pt x="9144000" y="0"/>
                    </a:lnTo>
                    <a:close/>
                  </a:path>
                </a:pathLst>
              </a:custGeom>
              <a:solidFill>
                <a:srgbClr val="E3632D">
                  <a:alpha val="6000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10131" y="875560"/>
                <a:ext cx="575618" cy="99698"/>
              </a:xfrm>
              <a:custGeom>
                <a:avLst/>
                <a:gdLst>
                  <a:gd name="connsiteX0" fmla="*/ 70158 w 575618"/>
                  <a:gd name="connsiteY0" fmla="*/ 0 h 99698"/>
                  <a:gd name="connsiteX1" fmla="*/ 102752 w 575618"/>
                  <a:gd name="connsiteY1" fmla="*/ 0 h 99698"/>
                  <a:gd name="connsiteX2" fmla="*/ 118418 w 575618"/>
                  <a:gd name="connsiteY2" fmla="*/ 0 h 99698"/>
                  <a:gd name="connsiteX3" fmla="*/ 153552 w 575618"/>
                  <a:gd name="connsiteY3" fmla="*/ 0 h 99698"/>
                  <a:gd name="connsiteX4" fmla="*/ 169218 w 575618"/>
                  <a:gd name="connsiteY4" fmla="*/ 0 h 99698"/>
                  <a:gd name="connsiteX5" fmla="*/ 204352 w 575618"/>
                  <a:gd name="connsiteY5" fmla="*/ 0 h 99698"/>
                  <a:gd name="connsiteX6" fmla="*/ 220018 w 575618"/>
                  <a:gd name="connsiteY6" fmla="*/ 0 h 99698"/>
                  <a:gd name="connsiteX7" fmla="*/ 255152 w 575618"/>
                  <a:gd name="connsiteY7" fmla="*/ 0 h 99698"/>
                  <a:gd name="connsiteX8" fmla="*/ 270818 w 575618"/>
                  <a:gd name="connsiteY8" fmla="*/ 0 h 99698"/>
                  <a:gd name="connsiteX9" fmla="*/ 305952 w 575618"/>
                  <a:gd name="connsiteY9" fmla="*/ 0 h 99698"/>
                  <a:gd name="connsiteX10" fmla="*/ 321618 w 575618"/>
                  <a:gd name="connsiteY10" fmla="*/ 0 h 99698"/>
                  <a:gd name="connsiteX11" fmla="*/ 356752 w 575618"/>
                  <a:gd name="connsiteY11" fmla="*/ 0 h 99698"/>
                  <a:gd name="connsiteX12" fmla="*/ 372418 w 575618"/>
                  <a:gd name="connsiteY12" fmla="*/ 0 h 99698"/>
                  <a:gd name="connsiteX13" fmla="*/ 407552 w 575618"/>
                  <a:gd name="connsiteY13" fmla="*/ 0 h 99698"/>
                  <a:gd name="connsiteX14" fmla="*/ 423218 w 575618"/>
                  <a:gd name="connsiteY14" fmla="*/ 0 h 99698"/>
                  <a:gd name="connsiteX15" fmla="*/ 458352 w 575618"/>
                  <a:gd name="connsiteY15" fmla="*/ 0 h 99698"/>
                  <a:gd name="connsiteX16" fmla="*/ 474018 w 575618"/>
                  <a:gd name="connsiteY16" fmla="*/ 0 h 99698"/>
                  <a:gd name="connsiteX17" fmla="*/ 509152 w 575618"/>
                  <a:gd name="connsiteY17" fmla="*/ 0 h 99698"/>
                  <a:gd name="connsiteX18" fmla="*/ 524818 w 575618"/>
                  <a:gd name="connsiteY18" fmla="*/ 0 h 99698"/>
                  <a:gd name="connsiteX19" fmla="*/ 575618 w 575618"/>
                  <a:gd name="connsiteY19" fmla="*/ 0 h 99698"/>
                  <a:gd name="connsiteX20" fmla="*/ 505460 w 575618"/>
                  <a:gd name="connsiteY20" fmla="*/ 99698 h 99698"/>
                  <a:gd name="connsiteX21" fmla="*/ 454660 w 575618"/>
                  <a:gd name="connsiteY21" fmla="*/ 99698 h 99698"/>
                  <a:gd name="connsiteX22" fmla="*/ 431609 w 575618"/>
                  <a:gd name="connsiteY22" fmla="*/ 99698 h 99698"/>
                  <a:gd name="connsiteX23" fmla="*/ 403860 w 575618"/>
                  <a:gd name="connsiteY23" fmla="*/ 99698 h 99698"/>
                  <a:gd name="connsiteX24" fmla="*/ 380809 w 575618"/>
                  <a:gd name="connsiteY24" fmla="*/ 99698 h 99698"/>
                  <a:gd name="connsiteX25" fmla="*/ 353060 w 575618"/>
                  <a:gd name="connsiteY25" fmla="*/ 99698 h 99698"/>
                  <a:gd name="connsiteX26" fmla="*/ 330009 w 575618"/>
                  <a:gd name="connsiteY26" fmla="*/ 99698 h 99698"/>
                  <a:gd name="connsiteX27" fmla="*/ 302260 w 575618"/>
                  <a:gd name="connsiteY27" fmla="*/ 99698 h 99698"/>
                  <a:gd name="connsiteX28" fmla="*/ 279209 w 575618"/>
                  <a:gd name="connsiteY28" fmla="*/ 99698 h 99698"/>
                  <a:gd name="connsiteX29" fmla="*/ 251460 w 575618"/>
                  <a:gd name="connsiteY29" fmla="*/ 99698 h 99698"/>
                  <a:gd name="connsiteX30" fmla="*/ 228409 w 575618"/>
                  <a:gd name="connsiteY30" fmla="*/ 99698 h 99698"/>
                  <a:gd name="connsiteX31" fmla="*/ 200660 w 575618"/>
                  <a:gd name="connsiteY31" fmla="*/ 99698 h 99698"/>
                  <a:gd name="connsiteX32" fmla="*/ 177609 w 575618"/>
                  <a:gd name="connsiteY32" fmla="*/ 99698 h 99698"/>
                  <a:gd name="connsiteX33" fmla="*/ 149860 w 575618"/>
                  <a:gd name="connsiteY33" fmla="*/ 99698 h 99698"/>
                  <a:gd name="connsiteX34" fmla="*/ 126809 w 575618"/>
                  <a:gd name="connsiteY34" fmla="*/ 99698 h 99698"/>
                  <a:gd name="connsiteX35" fmla="*/ 99060 w 575618"/>
                  <a:gd name="connsiteY35" fmla="*/ 99698 h 99698"/>
                  <a:gd name="connsiteX36" fmla="*/ 76009 w 575618"/>
                  <a:gd name="connsiteY36" fmla="*/ 99698 h 99698"/>
                  <a:gd name="connsiteX37" fmla="*/ 48260 w 575618"/>
                  <a:gd name="connsiteY37" fmla="*/ 99698 h 99698"/>
                  <a:gd name="connsiteX38" fmla="*/ 25209 w 575618"/>
                  <a:gd name="connsiteY38" fmla="*/ 99698 h 99698"/>
                  <a:gd name="connsiteX39" fmla="*/ 0 w 575618"/>
                  <a:gd name="connsiteY39" fmla="*/ 99698 h 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75618" h="99698">
                    <a:moveTo>
                      <a:pt x="70158" y="0"/>
                    </a:moveTo>
                    <a:lnTo>
                      <a:pt x="102752" y="0"/>
                    </a:lnTo>
                    <a:lnTo>
                      <a:pt x="118418" y="0"/>
                    </a:lnTo>
                    <a:lnTo>
                      <a:pt x="153552" y="0"/>
                    </a:lnTo>
                    <a:lnTo>
                      <a:pt x="169218" y="0"/>
                    </a:lnTo>
                    <a:lnTo>
                      <a:pt x="204352" y="0"/>
                    </a:lnTo>
                    <a:lnTo>
                      <a:pt x="220018" y="0"/>
                    </a:lnTo>
                    <a:lnTo>
                      <a:pt x="255152" y="0"/>
                    </a:lnTo>
                    <a:lnTo>
                      <a:pt x="270818" y="0"/>
                    </a:lnTo>
                    <a:lnTo>
                      <a:pt x="305952" y="0"/>
                    </a:lnTo>
                    <a:lnTo>
                      <a:pt x="321618" y="0"/>
                    </a:lnTo>
                    <a:lnTo>
                      <a:pt x="356752" y="0"/>
                    </a:lnTo>
                    <a:lnTo>
                      <a:pt x="372418" y="0"/>
                    </a:lnTo>
                    <a:lnTo>
                      <a:pt x="407552" y="0"/>
                    </a:lnTo>
                    <a:lnTo>
                      <a:pt x="423218" y="0"/>
                    </a:lnTo>
                    <a:lnTo>
                      <a:pt x="458352" y="0"/>
                    </a:lnTo>
                    <a:lnTo>
                      <a:pt x="474018" y="0"/>
                    </a:lnTo>
                    <a:lnTo>
                      <a:pt x="509152" y="0"/>
                    </a:lnTo>
                    <a:lnTo>
                      <a:pt x="524818" y="0"/>
                    </a:lnTo>
                    <a:lnTo>
                      <a:pt x="575618" y="0"/>
                    </a:lnTo>
                    <a:lnTo>
                      <a:pt x="505460" y="99698"/>
                    </a:lnTo>
                    <a:lnTo>
                      <a:pt x="454660" y="99698"/>
                    </a:lnTo>
                    <a:lnTo>
                      <a:pt x="431609" y="99698"/>
                    </a:lnTo>
                    <a:lnTo>
                      <a:pt x="403860" y="99698"/>
                    </a:lnTo>
                    <a:lnTo>
                      <a:pt x="380809" y="99698"/>
                    </a:lnTo>
                    <a:lnTo>
                      <a:pt x="353060" y="99698"/>
                    </a:lnTo>
                    <a:lnTo>
                      <a:pt x="330009" y="99698"/>
                    </a:lnTo>
                    <a:lnTo>
                      <a:pt x="302260" y="99698"/>
                    </a:lnTo>
                    <a:lnTo>
                      <a:pt x="279209" y="99698"/>
                    </a:lnTo>
                    <a:lnTo>
                      <a:pt x="251460" y="99698"/>
                    </a:lnTo>
                    <a:lnTo>
                      <a:pt x="228409" y="99698"/>
                    </a:lnTo>
                    <a:lnTo>
                      <a:pt x="200660" y="99698"/>
                    </a:lnTo>
                    <a:lnTo>
                      <a:pt x="177609" y="99698"/>
                    </a:lnTo>
                    <a:lnTo>
                      <a:pt x="149860" y="99698"/>
                    </a:lnTo>
                    <a:lnTo>
                      <a:pt x="126809" y="99698"/>
                    </a:lnTo>
                    <a:lnTo>
                      <a:pt x="99060" y="99698"/>
                    </a:lnTo>
                    <a:lnTo>
                      <a:pt x="76009" y="99698"/>
                    </a:lnTo>
                    <a:lnTo>
                      <a:pt x="48260" y="99698"/>
                    </a:lnTo>
                    <a:lnTo>
                      <a:pt x="25209" y="99698"/>
                    </a:lnTo>
                    <a:lnTo>
                      <a:pt x="0" y="99698"/>
                    </a:lnTo>
                    <a:close/>
                  </a:path>
                </a:pathLst>
              </a:custGeom>
              <a:solidFill>
                <a:srgbClr val="9B2100"/>
              </a:solidFill>
            </p:spPr>
            <p:txBody>
              <a:bodyPr wrap="square" lIns="0" tIns="0" rIns="0" bIns="0" rtlCol="0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68716" y="861413"/>
              <a:ext cx="11523284" cy="87318"/>
              <a:chOff x="668716" y="861413"/>
              <a:chExt cx="11523284" cy="87318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738566" y="861413"/>
                <a:ext cx="11453434" cy="0"/>
              </a:xfrm>
              <a:prstGeom prst="line">
                <a:avLst/>
              </a:prstGeom>
              <a:ln w="9525">
                <a:solidFill>
                  <a:srgbClr val="9B21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任意多边形: 形状 11"/>
              <p:cNvSpPr/>
              <p:nvPr/>
            </p:nvSpPr>
            <p:spPr>
              <a:xfrm>
                <a:off x="668716" y="902694"/>
                <a:ext cx="3585491" cy="46037"/>
              </a:xfrm>
              <a:custGeom>
                <a:avLst/>
                <a:gdLst>
                  <a:gd name="connsiteX0" fmla="*/ 44596 w 3585491"/>
                  <a:gd name="connsiteY0" fmla="*/ 0 h 46037"/>
                  <a:gd name="connsiteX1" fmla="*/ 1400638 w 3585491"/>
                  <a:gd name="connsiteY1" fmla="*/ 0 h 46037"/>
                  <a:gd name="connsiteX2" fmla="*/ 2229449 w 3585491"/>
                  <a:gd name="connsiteY2" fmla="*/ 0 h 46037"/>
                  <a:gd name="connsiteX3" fmla="*/ 3585491 w 3585491"/>
                  <a:gd name="connsiteY3" fmla="*/ 0 h 46037"/>
                  <a:gd name="connsiteX4" fmla="*/ 3540896 w 3585491"/>
                  <a:gd name="connsiteY4" fmla="*/ 46037 h 46037"/>
                  <a:gd name="connsiteX5" fmla="*/ 2184854 w 3585491"/>
                  <a:gd name="connsiteY5" fmla="*/ 46037 h 46037"/>
                  <a:gd name="connsiteX6" fmla="*/ 1356042 w 3585491"/>
                  <a:gd name="connsiteY6" fmla="*/ 46037 h 46037"/>
                  <a:gd name="connsiteX7" fmla="*/ 0 w 3585491"/>
                  <a:gd name="connsiteY7" fmla="*/ 46037 h 46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85491" h="46037">
                    <a:moveTo>
                      <a:pt x="44596" y="0"/>
                    </a:moveTo>
                    <a:lnTo>
                      <a:pt x="1400638" y="0"/>
                    </a:lnTo>
                    <a:lnTo>
                      <a:pt x="2229449" y="0"/>
                    </a:lnTo>
                    <a:lnTo>
                      <a:pt x="3585491" y="0"/>
                    </a:lnTo>
                    <a:lnTo>
                      <a:pt x="3540896" y="46037"/>
                    </a:lnTo>
                    <a:lnTo>
                      <a:pt x="2184854" y="46037"/>
                    </a:lnTo>
                    <a:lnTo>
                      <a:pt x="1356042" y="46037"/>
                    </a:lnTo>
                    <a:lnTo>
                      <a:pt x="0" y="46037"/>
                    </a:lnTo>
                    <a:close/>
                  </a:path>
                </a:pathLst>
              </a:custGeom>
              <a:gradFill>
                <a:gsLst>
                  <a:gs pos="0">
                    <a:srgbClr val="9B2100"/>
                  </a:gs>
                  <a:gs pos="100000">
                    <a:srgbClr val="9B2100">
                      <a:alpha val="0"/>
                    </a:srgbClr>
                  </a:gs>
                </a:gsLst>
                <a:lin ang="0" scaled="1"/>
              </a:gradFill>
            </p:spPr>
            <p:txBody>
              <a:bodyPr wrap="square" lIns="0" tIns="0" rIns="0" bIns="0" rtlCol="0"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 advClick="0" advTm="0">
        <p:fade/>
      </p:transition>
    </mc:Choice>
    <mc:Fallback>
      <p:transition advClick="0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517210"/>
          </a:xfrm>
          <a:prstGeom prst="rect">
            <a:avLst/>
          </a:prstGeom>
          <a:solidFill>
            <a:srgbClr val="F0E1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0" y="552839"/>
            <a:ext cx="12192000" cy="67886"/>
          </a:xfrm>
          <a:prstGeom prst="rect">
            <a:avLst/>
          </a:prstGeom>
          <a:solidFill>
            <a:srgbClr val="E5CB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66" name="Rectangle 2"/>
          <p:cNvSpPr txBox="1">
            <a:spLocks noChangeArrowheads="1"/>
          </p:cNvSpPr>
          <p:nvPr/>
        </p:nvSpPr>
        <p:spPr bwMode="auto">
          <a:xfrm>
            <a:off x="2218623" y="1452612"/>
            <a:ext cx="7632834" cy="1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latinLnBrk="1">
              <a:lnSpc>
                <a:spcPct val="114000"/>
              </a:lnSpc>
              <a:spcBef>
                <a:spcPct val="0"/>
              </a:spcBef>
              <a:buNone/>
            </a:pPr>
            <a:r>
              <a:rPr kumimoji="0" lang="zh-CN" altLang="en-US" sz="3600" b="1" dirty="0">
                <a:solidFill>
                  <a:srgbClr val="AA53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污染场地土壤生态-生产功能重构</a:t>
            </a:r>
            <a:endParaRPr kumimoji="0" lang="zh-CN" altLang="en-US" sz="4400" b="1" dirty="0">
              <a:solidFill>
                <a:srgbClr val="AA53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latinLnBrk="1">
              <a:lnSpc>
                <a:spcPct val="114000"/>
              </a:lnSpc>
              <a:spcBef>
                <a:spcPct val="0"/>
              </a:spcBef>
              <a:buNone/>
            </a:pPr>
            <a:r>
              <a:rPr kumimoji="0" lang="en-US" altLang="zh-CN" sz="3600" b="1" dirty="0">
                <a:solidFill>
                  <a:srgbClr val="AA53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监管系统（SRS）操作演示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0" y="4520852"/>
            <a:ext cx="12192000" cy="2337149"/>
            <a:chOff x="0" y="4520852"/>
            <a:chExt cx="12192000" cy="2337149"/>
          </a:xfrm>
        </p:grpSpPr>
        <p:grpSp>
          <p:nvGrpSpPr>
            <p:cNvPr id="57" name="组合 56"/>
            <p:cNvGrpSpPr/>
            <p:nvPr/>
          </p:nvGrpSpPr>
          <p:grpSpPr>
            <a:xfrm>
              <a:off x="0" y="5270823"/>
              <a:ext cx="12192000" cy="1587178"/>
              <a:chOff x="0" y="5178065"/>
              <a:chExt cx="9144000" cy="1587178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9827" b="39827"/>
              <a:stretch>
                <a:fillRect/>
              </a:stretch>
            </p:blipFill>
            <p:spPr>
              <a:xfrm>
                <a:off x="2717750" y="5893615"/>
                <a:ext cx="6426250" cy="871628"/>
              </a:xfrm>
              <a:custGeom>
                <a:avLst/>
                <a:gdLst>
                  <a:gd name="connsiteX0" fmla="*/ 3480998 w 6426250"/>
                  <a:gd name="connsiteY0" fmla="*/ 0 h 871628"/>
                  <a:gd name="connsiteX1" fmla="*/ 6061594 w 6426250"/>
                  <a:gd name="connsiteY1" fmla="*/ 340134 h 871628"/>
                  <a:gd name="connsiteX2" fmla="*/ 6426250 w 6426250"/>
                  <a:gd name="connsiteY2" fmla="*/ 378867 h 871628"/>
                  <a:gd name="connsiteX3" fmla="*/ 6426250 w 6426250"/>
                  <a:gd name="connsiteY3" fmla="*/ 583791 h 871628"/>
                  <a:gd name="connsiteX4" fmla="*/ 6374065 w 6426250"/>
                  <a:gd name="connsiteY4" fmla="*/ 591507 h 871628"/>
                  <a:gd name="connsiteX5" fmla="*/ 3142307 w 6426250"/>
                  <a:gd name="connsiteY5" fmla="*/ 862123 h 871628"/>
                  <a:gd name="connsiteX6" fmla="*/ 0 w 6426250"/>
                  <a:gd name="connsiteY6" fmla="*/ 699621 h 871628"/>
                  <a:gd name="connsiteX7" fmla="*/ 3480998 w 6426250"/>
                  <a:gd name="connsiteY7" fmla="*/ 0 h 871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6250" h="871628">
                    <a:moveTo>
                      <a:pt x="3480998" y="0"/>
                    </a:moveTo>
                    <a:cubicBezTo>
                      <a:pt x="3904363" y="74410"/>
                      <a:pt x="4921399" y="214248"/>
                      <a:pt x="6061594" y="340134"/>
                    </a:cubicBezTo>
                    <a:lnTo>
                      <a:pt x="6426250" y="378867"/>
                    </a:lnTo>
                    <a:lnTo>
                      <a:pt x="6426250" y="583791"/>
                    </a:lnTo>
                    <a:lnTo>
                      <a:pt x="6374065" y="591507"/>
                    </a:lnTo>
                    <a:cubicBezTo>
                      <a:pt x="5466640" y="717794"/>
                      <a:pt x="4390588" y="819787"/>
                      <a:pt x="3142307" y="862123"/>
                    </a:cubicBezTo>
                    <a:cubicBezTo>
                      <a:pt x="2105706" y="898045"/>
                      <a:pt x="1034893" y="829623"/>
                      <a:pt x="0" y="699621"/>
                    </a:cubicBezTo>
                    <a:cubicBezTo>
                      <a:pt x="1173448" y="547380"/>
                      <a:pt x="2334921" y="282244"/>
                      <a:pt x="3480998" y="0"/>
                    </a:cubicBezTo>
                    <a:close/>
                  </a:path>
                </a:pathLst>
              </a:custGeom>
            </p:spPr>
          </p:pic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7485" b="37485"/>
              <a:stretch>
                <a:fillRect/>
              </a:stretch>
            </p:blipFill>
            <p:spPr>
              <a:xfrm>
                <a:off x="0" y="5539050"/>
                <a:ext cx="6114925" cy="1020406"/>
              </a:xfrm>
              <a:custGeom>
                <a:avLst/>
                <a:gdLst>
                  <a:gd name="connsiteX0" fmla="*/ 171656 w 6114925"/>
                  <a:gd name="connsiteY0" fmla="*/ 2195 h 1020406"/>
                  <a:gd name="connsiteX1" fmla="*/ 884025 w 6114925"/>
                  <a:gd name="connsiteY1" fmla="*/ 2623 h 1020406"/>
                  <a:gd name="connsiteX2" fmla="*/ 6111508 w 6114925"/>
                  <a:gd name="connsiteY2" fmla="*/ 322496 h 1020406"/>
                  <a:gd name="connsiteX3" fmla="*/ 6114925 w 6114925"/>
                  <a:gd name="connsiteY3" fmla="*/ 324206 h 1020406"/>
                  <a:gd name="connsiteX4" fmla="*/ 6114925 w 6114925"/>
                  <a:gd name="connsiteY4" fmla="*/ 324209 h 1020406"/>
                  <a:gd name="connsiteX5" fmla="*/ 5240162 w 6114925"/>
                  <a:gd name="connsiteY5" fmla="*/ 532816 h 1020406"/>
                  <a:gd name="connsiteX6" fmla="*/ 2580905 w 6114925"/>
                  <a:gd name="connsiteY6" fmla="*/ 1020406 h 1020406"/>
                  <a:gd name="connsiteX7" fmla="*/ 172860 w 6114925"/>
                  <a:gd name="connsiteY7" fmla="*/ 599822 h 1020406"/>
                  <a:gd name="connsiteX8" fmla="*/ 0 w 6114925"/>
                  <a:gd name="connsiteY8" fmla="*/ 561030 h 1020406"/>
                  <a:gd name="connsiteX9" fmla="*/ 0 w 6114925"/>
                  <a:gd name="connsiteY9" fmla="*/ 5975 h 1020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14925" h="1020406">
                    <a:moveTo>
                      <a:pt x="171656" y="2195"/>
                    </a:moveTo>
                    <a:cubicBezTo>
                      <a:pt x="407741" y="-799"/>
                      <a:pt x="645830" y="-799"/>
                      <a:pt x="884025" y="2623"/>
                    </a:cubicBezTo>
                    <a:cubicBezTo>
                      <a:pt x="2639064" y="29992"/>
                      <a:pt x="5362279" y="177099"/>
                      <a:pt x="6111508" y="322496"/>
                    </a:cubicBezTo>
                    <a:lnTo>
                      <a:pt x="6114925" y="324206"/>
                    </a:lnTo>
                    <a:lnTo>
                      <a:pt x="6114925" y="324209"/>
                    </a:lnTo>
                    <a:lnTo>
                      <a:pt x="5240162" y="532816"/>
                    </a:lnTo>
                    <a:cubicBezTo>
                      <a:pt x="4361922" y="734315"/>
                      <a:pt x="3473819" y="910075"/>
                      <a:pt x="2580905" y="1020406"/>
                    </a:cubicBezTo>
                    <a:cubicBezTo>
                      <a:pt x="1739308" y="910075"/>
                      <a:pt x="923797" y="761684"/>
                      <a:pt x="172860" y="599822"/>
                    </a:cubicBezTo>
                    <a:lnTo>
                      <a:pt x="0" y="561030"/>
                    </a:lnTo>
                    <a:lnTo>
                      <a:pt x="0" y="5975"/>
                    </a:lnTo>
                    <a:close/>
                  </a:path>
                </a:pathLst>
              </a:custGeom>
            </p:spPr>
          </p:pic>
          <p:pic>
            <p:nvPicPr>
              <p:cNvPr id="60" name="图片 59"/>
              <p:cNvPicPr>
                <a:picLocks noChangeAspect="1"/>
              </p:cNvPicPr>
              <p:nvPr/>
            </p:nvPicPr>
            <p:blipFill rotWithShape="1">
              <a:blip r:embed="rId3"/>
              <a:srcRect t="46204" r="56080" b="28797"/>
              <a:stretch>
                <a:fillRect/>
              </a:stretch>
            </p:blipFill>
            <p:spPr>
              <a:xfrm>
                <a:off x="6280850" y="5178065"/>
                <a:ext cx="2863150" cy="1062527"/>
              </a:xfrm>
              <a:custGeom>
                <a:avLst/>
                <a:gdLst>
                  <a:gd name="connsiteX0" fmla="*/ 2863150 w 2863150"/>
                  <a:gd name="connsiteY0" fmla="*/ 0 h 1062527"/>
                  <a:gd name="connsiteX1" fmla="*/ 2863150 w 2863150"/>
                  <a:gd name="connsiteY1" fmla="*/ 1062527 h 1062527"/>
                  <a:gd name="connsiteX2" fmla="*/ 2641939 w 2863150"/>
                  <a:gd name="connsiteY2" fmla="*/ 1039514 h 1062527"/>
                  <a:gd name="connsiteX3" fmla="*/ 0 w 2863150"/>
                  <a:gd name="connsiteY3" fmla="*/ 696734 h 1062527"/>
                  <a:gd name="connsiteX4" fmla="*/ 766332 w 2863150"/>
                  <a:gd name="connsiteY4" fmla="*/ 505151 h 1062527"/>
                  <a:gd name="connsiteX5" fmla="*/ 2247787 w 2863150"/>
                  <a:gd name="connsiteY5" fmla="*/ 140081 h 1062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3150" h="1062527">
                    <a:moveTo>
                      <a:pt x="2863150" y="0"/>
                    </a:moveTo>
                    <a:lnTo>
                      <a:pt x="2863150" y="1062527"/>
                    </a:lnTo>
                    <a:lnTo>
                      <a:pt x="2641939" y="1039514"/>
                    </a:lnTo>
                    <a:cubicBezTo>
                      <a:pt x="1511605" y="917075"/>
                      <a:pt x="481097" y="777557"/>
                      <a:pt x="0" y="696734"/>
                    </a:cubicBezTo>
                    <a:cubicBezTo>
                      <a:pt x="256585" y="633443"/>
                      <a:pt x="511460" y="568442"/>
                      <a:pt x="766332" y="505151"/>
                    </a:cubicBezTo>
                    <a:cubicBezTo>
                      <a:pt x="1266672" y="379425"/>
                      <a:pt x="1760063" y="255410"/>
                      <a:pt x="2247787" y="140081"/>
                    </a:cubicBezTo>
                    <a:close/>
                  </a:path>
                </a:pathLst>
              </a:custGeom>
            </p:spPr>
          </p:pic>
          <p:pic>
            <p:nvPicPr>
              <p:cNvPr id="61" name="图片 60"/>
              <p:cNvPicPr>
                <a:picLocks noChangeAspect="1"/>
              </p:cNvPicPr>
              <p:nvPr/>
            </p:nvPicPr>
            <p:blipFill rotWithShape="1">
              <a:blip r:embed="rId4"/>
              <a:srcRect l="59814" t="13627" r="115" b="71284"/>
              <a:stretch>
                <a:fillRect/>
              </a:stretch>
            </p:blipFill>
            <p:spPr>
              <a:xfrm>
                <a:off x="0" y="6153207"/>
                <a:ext cx="2449192" cy="543194"/>
              </a:xfrm>
              <a:custGeom>
                <a:avLst/>
                <a:gdLst>
                  <a:gd name="connsiteX0" fmla="*/ 0 w 2449192"/>
                  <a:gd name="connsiteY0" fmla="*/ 0 h 543194"/>
                  <a:gd name="connsiteX1" fmla="*/ 88617 w 2449192"/>
                  <a:gd name="connsiteY1" fmla="*/ 19816 h 543194"/>
                  <a:gd name="connsiteX2" fmla="*/ 2449192 w 2449192"/>
                  <a:gd name="connsiteY2" fmla="*/ 440027 h 543194"/>
                  <a:gd name="connsiteX3" fmla="*/ 410201 w 2449192"/>
                  <a:gd name="connsiteY3" fmla="*/ 539239 h 543194"/>
                  <a:gd name="connsiteX4" fmla="*/ 370857 w 2449192"/>
                  <a:gd name="connsiteY4" fmla="*/ 539239 h 543194"/>
                  <a:gd name="connsiteX5" fmla="*/ 136870 w 2449192"/>
                  <a:gd name="connsiteY5" fmla="*/ 535322 h 543194"/>
                  <a:gd name="connsiteX6" fmla="*/ 0 w 2449192"/>
                  <a:gd name="connsiteY6" fmla="*/ 529053 h 543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9192" h="543194">
                    <a:moveTo>
                      <a:pt x="0" y="0"/>
                    </a:moveTo>
                    <a:lnTo>
                      <a:pt x="88617" y="19816"/>
                    </a:lnTo>
                    <a:cubicBezTo>
                      <a:pt x="773214" y="169491"/>
                      <a:pt x="1581081" y="321785"/>
                      <a:pt x="2449192" y="440027"/>
                    </a:cubicBezTo>
                    <a:cubicBezTo>
                      <a:pt x="1771809" y="517002"/>
                      <a:pt x="1092715" y="556345"/>
                      <a:pt x="410201" y="539239"/>
                    </a:cubicBezTo>
                    <a:cubicBezTo>
                      <a:pt x="396516" y="539239"/>
                      <a:pt x="384542" y="539239"/>
                      <a:pt x="370857" y="539239"/>
                    </a:cubicBezTo>
                    <a:cubicBezTo>
                      <a:pt x="294951" y="539239"/>
                      <a:pt x="216826" y="537889"/>
                      <a:pt x="136870" y="535322"/>
                    </a:cubicBezTo>
                    <a:lnTo>
                      <a:pt x="0" y="529053"/>
                    </a:lnTo>
                    <a:close/>
                  </a:path>
                </a:pathLst>
              </a:custGeom>
            </p:spPr>
          </p:pic>
          <p:sp>
            <p:nvSpPr>
              <p:cNvPr id="62" name="任意多边形: 形状 61"/>
              <p:cNvSpPr/>
              <p:nvPr/>
            </p:nvSpPr>
            <p:spPr>
              <a:xfrm>
                <a:off x="6280850" y="5178065"/>
                <a:ext cx="2863150" cy="1062526"/>
              </a:xfrm>
              <a:custGeom>
                <a:avLst/>
                <a:gdLst>
                  <a:gd name="connsiteX0" fmla="*/ 2863150 w 2863150"/>
                  <a:gd name="connsiteY0" fmla="*/ 0 h 1062526"/>
                  <a:gd name="connsiteX1" fmla="*/ 2863150 w 2863150"/>
                  <a:gd name="connsiteY1" fmla="*/ 1062526 h 1062526"/>
                  <a:gd name="connsiteX2" fmla="*/ 2641939 w 2863150"/>
                  <a:gd name="connsiteY2" fmla="*/ 1039513 h 1062526"/>
                  <a:gd name="connsiteX3" fmla="*/ 0 w 2863150"/>
                  <a:gd name="connsiteY3" fmla="*/ 696734 h 1062526"/>
                  <a:gd name="connsiteX4" fmla="*/ 766332 w 2863150"/>
                  <a:gd name="connsiteY4" fmla="*/ 505151 h 1062526"/>
                  <a:gd name="connsiteX5" fmla="*/ 2247787 w 2863150"/>
                  <a:gd name="connsiteY5" fmla="*/ 140081 h 106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3150" h="1062526">
                    <a:moveTo>
                      <a:pt x="2863150" y="0"/>
                    </a:moveTo>
                    <a:lnTo>
                      <a:pt x="2863150" y="1062526"/>
                    </a:lnTo>
                    <a:lnTo>
                      <a:pt x="2641939" y="1039513"/>
                    </a:lnTo>
                    <a:cubicBezTo>
                      <a:pt x="1511604" y="917074"/>
                      <a:pt x="481097" y="777557"/>
                      <a:pt x="0" y="696734"/>
                    </a:cubicBezTo>
                    <a:cubicBezTo>
                      <a:pt x="256585" y="633442"/>
                      <a:pt x="511459" y="568441"/>
                      <a:pt x="766332" y="505151"/>
                    </a:cubicBezTo>
                    <a:cubicBezTo>
                      <a:pt x="1266672" y="379425"/>
                      <a:pt x="1760063" y="255410"/>
                      <a:pt x="2247787" y="140081"/>
                    </a:cubicBezTo>
                    <a:close/>
                  </a:path>
                </a:pathLst>
              </a:custGeom>
              <a:solidFill>
                <a:srgbClr val="A850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2709333" y="5893616"/>
                <a:ext cx="6426250" cy="871627"/>
              </a:xfrm>
              <a:custGeom>
                <a:avLst/>
                <a:gdLst>
                  <a:gd name="connsiteX0" fmla="*/ 3480997 w 6426250"/>
                  <a:gd name="connsiteY0" fmla="*/ 0 h 871627"/>
                  <a:gd name="connsiteX1" fmla="*/ 6061594 w 6426250"/>
                  <a:gd name="connsiteY1" fmla="*/ 340134 h 871627"/>
                  <a:gd name="connsiteX2" fmla="*/ 6426250 w 6426250"/>
                  <a:gd name="connsiteY2" fmla="*/ 378867 h 871627"/>
                  <a:gd name="connsiteX3" fmla="*/ 6426250 w 6426250"/>
                  <a:gd name="connsiteY3" fmla="*/ 583791 h 871627"/>
                  <a:gd name="connsiteX4" fmla="*/ 6374065 w 6426250"/>
                  <a:gd name="connsiteY4" fmla="*/ 591506 h 871627"/>
                  <a:gd name="connsiteX5" fmla="*/ 3142305 w 6426250"/>
                  <a:gd name="connsiteY5" fmla="*/ 862122 h 871627"/>
                  <a:gd name="connsiteX6" fmla="*/ 0 w 6426250"/>
                  <a:gd name="connsiteY6" fmla="*/ 699619 h 871627"/>
                  <a:gd name="connsiteX7" fmla="*/ 3480997 w 6426250"/>
                  <a:gd name="connsiteY7" fmla="*/ 0 h 87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6250" h="871627">
                    <a:moveTo>
                      <a:pt x="3480997" y="0"/>
                    </a:moveTo>
                    <a:cubicBezTo>
                      <a:pt x="3904361" y="74410"/>
                      <a:pt x="4921397" y="214248"/>
                      <a:pt x="6061594" y="340134"/>
                    </a:cubicBezTo>
                    <a:lnTo>
                      <a:pt x="6426250" y="378867"/>
                    </a:lnTo>
                    <a:lnTo>
                      <a:pt x="6426250" y="583791"/>
                    </a:lnTo>
                    <a:lnTo>
                      <a:pt x="6374065" y="591506"/>
                    </a:lnTo>
                    <a:cubicBezTo>
                      <a:pt x="5466639" y="717794"/>
                      <a:pt x="4390588" y="819786"/>
                      <a:pt x="3142305" y="862122"/>
                    </a:cubicBezTo>
                    <a:cubicBezTo>
                      <a:pt x="2105704" y="898044"/>
                      <a:pt x="1034892" y="829622"/>
                      <a:pt x="0" y="699619"/>
                    </a:cubicBezTo>
                    <a:cubicBezTo>
                      <a:pt x="1173447" y="547379"/>
                      <a:pt x="2334919" y="282243"/>
                      <a:pt x="3480997" y="0"/>
                    </a:cubicBezTo>
                    <a:close/>
                  </a:path>
                </a:pathLst>
              </a:custGeom>
              <a:solidFill>
                <a:srgbClr val="C58C23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0" y="6153206"/>
                <a:ext cx="2449191" cy="543194"/>
              </a:xfrm>
              <a:custGeom>
                <a:avLst/>
                <a:gdLst>
                  <a:gd name="connsiteX0" fmla="*/ 0 w 2449191"/>
                  <a:gd name="connsiteY0" fmla="*/ 0 h 543194"/>
                  <a:gd name="connsiteX1" fmla="*/ 88617 w 2449191"/>
                  <a:gd name="connsiteY1" fmla="*/ 19816 h 543194"/>
                  <a:gd name="connsiteX2" fmla="*/ 2449191 w 2449191"/>
                  <a:gd name="connsiteY2" fmla="*/ 440026 h 543194"/>
                  <a:gd name="connsiteX3" fmla="*/ 410200 w 2449191"/>
                  <a:gd name="connsiteY3" fmla="*/ 539239 h 543194"/>
                  <a:gd name="connsiteX4" fmla="*/ 370856 w 2449191"/>
                  <a:gd name="connsiteY4" fmla="*/ 539239 h 543194"/>
                  <a:gd name="connsiteX5" fmla="*/ 136870 w 2449191"/>
                  <a:gd name="connsiteY5" fmla="*/ 535322 h 543194"/>
                  <a:gd name="connsiteX6" fmla="*/ 0 w 2449191"/>
                  <a:gd name="connsiteY6" fmla="*/ 529053 h 543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9191" h="543194">
                    <a:moveTo>
                      <a:pt x="0" y="0"/>
                    </a:moveTo>
                    <a:lnTo>
                      <a:pt x="88617" y="19816"/>
                    </a:lnTo>
                    <a:cubicBezTo>
                      <a:pt x="773214" y="169491"/>
                      <a:pt x="1581081" y="321785"/>
                      <a:pt x="2449191" y="440026"/>
                    </a:cubicBezTo>
                    <a:cubicBezTo>
                      <a:pt x="1771808" y="517002"/>
                      <a:pt x="1092714" y="556344"/>
                      <a:pt x="410200" y="539239"/>
                    </a:cubicBezTo>
                    <a:cubicBezTo>
                      <a:pt x="396516" y="539239"/>
                      <a:pt x="384541" y="539239"/>
                      <a:pt x="370856" y="539239"/>
                    </a:cubicBezTo>
                    <a:cubicBezTo>
                      <a:pt x="294950" y="539239"/>
                      <a:pt x="216826" y="537889"/>
                      <a:pt x="136870" y="535322"/>
                    </a:cubicBezTo>
                    <a:lnTo>
                      <a:pt x="0" y="529053"/>
                    </a:lnTo>
                    <a:close/>
                  </a:path>
                </a:pathLst>
              </a:custGeom>
              <a:solidFill>
                <a:srgbClr val="C58C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8414" y="5535674"/>
                <a:ext cx="6114928" cy="1020405"/>
              </a:xfrm>
              <a:custGeom>
                <a:avLst/>
                <a:gdLst>
                  <a:gd name="connsiteX0" fmla="*/ 171656 w 6114928"/>
                  <a:gd name="connsiteY0" fmla="*/ 2195 h 1020405"/>
                  <a:gd name="connsiteX1" fmla="*/ 884025 w 6114928"/>
                  <a:gd name="connsiteY1" fmla="*/ 2622 h 1020405"/>
                  <a:gd name="connsiteX2" fmla="*/ 6111507 w 6114928"/>
                  <a:gd name="connsiteY2" fmla="*/ 322496 h 1020405"/>
                  <a:gd name="connsiteX3" fmla="*/ 6114928 w 6114928"/>
                  <a:gd name="connsiteY3" fmla="*/ 324207 h 1020405"/>
                  <a:gd name="connsiteX4" fmla="*/ 2580905 w 6114928"/>
                  <a:gd name="connsiteY4" fmla="*/ 1020405 h 1020405"/>
                  <a:gd name="connsiteX5" fmla="*/ 172860 w 6114928"/>
                  <a:gd name="connsiteY5" fmla="*/ 599821 h 1020405"/>
                  <a:gd name="connsiteX6" fmla="*/ 0 w 6114928"/>
                  <a:gd name="connsiteY6" fmla="*/ 561029 h 1020405"/>
                  <a:gd name="connsiteX7" fmla="*/ 0 w 6114928"/>
                  <a:gd name="connsiteY7" fmla="*/ 6492 h 102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14928" h="1020405">
                    <a:moveTo>
                      <a:pt x="171656" y="2195"/>
                    </a:moveTo>
                    <a:cubicBezTo>
                      <a:pt x="407741" y="-799"/>
                      <a:pt x="645830" y="-799"/>
                      <a:pt x="884025" y="2622"/>
                    </a:cubicBezTo>
                    <a:cubicBezTo>
                      <a:pt x="2639064" y="29991"/>
                      <a:pt x="5362279" y="177099"/>
                      <a:pt x="6111507" y="322496"/>
                    </a:cubicBezTo>
                    <a:cubicBezTo>
                      <a:pt x="6113217" y="324207"/>
                      <a:pt x="6114928" y="324207"/>
                      <a:pt x="6114928" y="324207"/>
                    </a:cubicBezTo>
                    <a:cubicBezTo>
                      <a:pt x="4953455" y="609871"/>
                      <a:pt x="3771457" y="873297"/>
                      <a:pt x="2580905" y="1020405"/>
                    </a:cubicBezTo>
                    <a:cubicBezTo>
                      <a:pt x="1739308" y="910074"/>
                      <a:pt x="923797" y="761683"/>
                      <a:pt x="172860" y="599821"/>
                    </a:cubicBezTo>
                    <a:lnTo>
                      <a:pt x="0" y="561029"/>
                    </a:lnTo>
                    <a:lnTo>
                      <a:pt x="0" y="6492"/>
                    </a:lnTo>
                    <a:close/>
                  </a:path>
                </a:pathLst>
              </a:custGeom>
              <a:solidFill>
                <a:srgbClr val="A8502A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矩形: 圆角 69"/>
            <p:cNvSpPr/>
            <p:nvPr/>
          </p:nvSpPr>
          <p:spPr>
            <a:xfrm rot="5400000">
              <a:off x="5287804" y="-34975"/>
              <a:ext cx="1616392" cy="1216955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66000">
                  <a:srgbClr val="FFFFFF">
                    <a:alpha val="70000"/>
                  </a:srgbClr>
                </a:gs>
                <a:gs pos="0">
                  <a:schemeClr val="bg1"/>
                </a:gs>
                <a:gs pos="98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10" name="矩形: 圆角 9"/>
            <p:cNvSpPr/>
            <p:nvPr/>
          </p:nvSpPr>
          <p:spPr>
            <a:xfrm rot="5400000">
              <a:off x="4927426" y="-406574"/>
              <a:ext cx="2337148" cy="12192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62000">
                  <a:srgbClr val="FFFFFF">
                    <a:alpha val="70000"/>
                  </a:srgbClr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01033" y="59539"/>
            <a:ext cx="692009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latinLnBrk="1">
              <a:spcBef>
                <a:spcPct val="0"/>
              </a:spcBef>
              <a:buNone/>
            </a:pPr>
            <a:r>
              <a:rPr kumimoji="0" lang="zh-CN" altLang="en-US" sz="2400" b="1" dirty="0">
                <a:solidFill>
                  <a:srgbClr val="CE68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SRS v1.2.1 年度验收演示（修复候选）</a:t>
            </a:r>
            <a:endParaRPr kumimoji="0" lang="zh-CN" altLang="en-US" sz="2400" b="1" dirty="0">
              <a:solidFill>
                <a:srgbClr val="CE68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" name="矩形: 圆角 7"/>
          <p:cNvSpPr/>
          <p:nvPr/>
        </p:nvSpPr>
        <p:spPr>
          <a:xfrm rot="5400000">
            <a:off x="5103709" y="-219068"/>
            <a:ext cx="1962135" cy="12192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rgbClr val="FFFFFF">
                  <a:alpha val="70000"/>
                </a:srgbClr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25400" cap="flat" cmpd="sng" algn="ctr">
            <a:solidFill>
              <a:schemeClr val="bg2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3365" y="4978400"/>
            <a:ext cx="8754745" cy="93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委托单位：生态环境部土壤与农业农村生态环境监管技术中心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Bef>
                <a:spcPts val="8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承担单位：浙江大学环境与资源学院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828800" y="356616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汇报人：曾 鸿    指导教师：王 玮 副教授</a:t>
            </a:r>
          </a:p>
          <a:p>
            <a:pPr algn="ctr">
              <a:lnSpc>
                <a:spcPct val="115000"/>
              </a:lnSpc>
            </a:pPr>
            <a:r>
              <a:rPr sz="12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软件版本 v1.2.1（修复候选，待甲方验收） · 演示数据为模拟数据——仅供测试/演示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一、年度任务与 7 月 30 日意见的落实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六条意见均已落到可演示的功能；方法细节待确认的部分按冻结基线执行并逐项登记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来源：docs/annual/method_baseline_v1.2.md；DELIVERY_INDEX.md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554480"/>
          <a:ext cx="1056132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3108960"/>
                <a:gridCol w="5440680"/>
                <a:gridCol w="1280160"/>
              </a:tblGrid>
              <a:tr h="600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v1.2.1 实现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与陈亮/宋伟杰对齐方法与数据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冻结基线 M-REC-2025；10 项待确认 + 18 个问题草稿；字段级对照表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B7791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待确认</a:t>
                      </a:r>
                    </a:p>
                  </a:txBody>
                  <a:tcPr>
                    <a:solidFill>
                      <a:srgbClr val="FBF1D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三个课题的数据都要演示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个合成场地覆盖五类结论；子课题个旧测试表 28 项全部可赋分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修复后给出宜生产/宜生态结论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法规门禁 + 功能评分 → 五类结论，附原因、条件与下一步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课题一/二修复前、课题三修复后独立导入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课题二 28 项指标独立导入；课题三独立导入；数据分表存储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进入即见全流程追溯与上传下载引导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五阶段引导 + 模板 + 软件里程碑与五阶段业务记录分列；查看不建记录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C6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可编辑用户手册与演示 PPT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DOCX 手册（含 PDF）+ 本 PPT，截图来自 Windows 实装程序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Windows 实装验收：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关键流程 221/221 项通过；重启 26/26；v1.1.0→v1.2.1 升级 11/11；v1.2.0→v1.2.1 升级 13/13；便携版 7/7（GitHub Actions Windows）。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二、三个课题与数据阶段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修复前数据进课题一、二；修复后数据只经课题三导入；三类批次分表存储、不自动复制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来源：migration 0007/0008；recon_import_service.py；ssui_post_service.py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5120640" cy="50292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修复前（调查评估 · 方案审批）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120640" cy="502920"/>
          </a:xfrm>
          <a:prstGeom prst="rect">
            <a:avLst/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修复后（效果评估 · 后期管护）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课题一  障碍因子识别（KOS）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检测数据导入 → 关键障碍因子 Top-N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6616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课题二  功能重构可行性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28 项指标导入 → 生产/生态可行性 → 修复前情景判断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课题三  修复后 SSUI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独立模板导入 → SSUI 计算 → 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56616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修复后利用方向结论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法规门禁（GB 15618 / GB 36600）+ SSUI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3383280"/>
            <a:ext cx="0" cy="182880"/>
          </a:xfrm>
          <a:prstGeom prst="line">
            <a:avLst/>
          </a:prstGeom>
          <a:ln w="19050">
            <a:solidFill>
              <a:srgbClr val="C58C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68680" y="4892040"/>
            <a:ext cx="104698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修复前入口：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场地管理 → 数据导入（PRE-v1.1）；重构指标导入（RECON-PRE-v1.2）</a:t>
            </a:r>
          </a:p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修复后入口：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修复后SSUI（课题三）→ SSUI-POST-v1.1 → 上传校验 → 确认入库</a:t>
            </a:r>
          </a:p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分离方式：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独立批次表；课题一/二只读修复前数据；合成演示中的修复前后关联已显式标注，不代表真实修复效果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三、安装、首启、升级与便携版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安装包不含业务数据和账户；首启空库设置管理员；v1.1.0、v1.2.0 覆盖升级数据保留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来源：.github/workflows/windows-release.yml；acceptance_*.json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1  安装版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SRS-Setup-1.2.1-Windows-x64.exe；/CURRENTUSER 安装到当前用户目录（CI 标准账户计划任务测试通过，见验收页）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2  首次启动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空数据库 → 设置管理员（≥8 位，3 类字符）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3  升级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覆盖安装；自动迁移（含 0009 单位修复）、阈值补水田口径、已出报告保留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4  便携版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SRS-Portable-1.2.1-Windows-x64.zip；数据在 SRS_data</a:t>
            </a:r>
          </a:p>
        </p:txBody>
      </p:sp>
      <p:pic>
        <p:nvPicPr>
          <p:cNvPr id="7" name="Picture 6" descr="00_first_run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1685"/>
            <a:ext cx="5577840" cy="34861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852160" y="5556123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运行截图（v1.2.1，模拟数据——仅供测试/演示）：首次启动设置向导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四、全流程追溯：进入即见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打开页面即显示五阶段引导、需上传资料和模板下载；查看不创建任何记录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来源：GET /api/v1/trace/guide、/sites/{id}/trace/progress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1874519" cy="86868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调查评估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 · 课题一/二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99232" y="1600200"/>
            <a:ext cx="1874519" cy="86868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方案审批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 · 课题一/二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73752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29784" y="1600200"/>
            <a:ext cx="1874519" cy="86868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施工监理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04304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260336" y="1600200"/>
            <a:ext cx="1874519" cy="868680"/>
          </a:xfrm>
          <a:prstGeom prst="rect">
            <a:avLst/>
          </a:prstGeom>
          <a:solidFill>
            <a:srgbClr val="FFF7E6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效果评估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 · 课题三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34856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390888" y="1600200"/>
            <a:ext cx="1874519" cy="868680"/>
          </a:xfrm>
          <a:prstGeom prst="rect">
            <a:avLst/>
          </a:prstGeom>
          <a:solidFill>
            <a:srgbClr val="FFF7E6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后期管护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 · 课题三</a:t>
            </a:r>
          </a:p>
        </p:txBody>
      </p:sp>
      <p:pic>
        <p:nvPicPr>
          <p:cNvPr id="15" name="Picture 14" descr="20_trace_gu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1" y="2651760"/>
            <a:ext cx="4608576" cy="3520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901951" y="6190488"/>
            <a:ext cx="4608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运行截图（v1.2.1，模拟数据——仅供测试/演示）：全流程追溯引导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2651760"/>
            <a:ext cx="361188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SRS-A：两类进度分开显示</a:t>
            </a:r>
          </a:p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七项软件操作里程碑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导入 · 课题一 · 课题二 · 修复前判断 · 课题三 · 修复后结论 · 报告</a:t>
            </a:r>
          </a:p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已执行 7/7</a:t>
            </a:r>
          </a:p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五阶段业务记录</a:t>
            </a:r>
          </a:p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已完成并有材料 0/5（未上传材料 = 未开展）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五、课题一：障碍因子识别（KOS）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 Top-N 只收本轨官方标准证据；文献/启发式阈值仅作探索提示，区分上限与下限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来源：Windows 验收 demo_actual/comparison.json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  场地管理 → 导入数据（修复前模板）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  查看校验报告（错误、警告、超标）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  障碍因子分析（课题一）→ 运行诊断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05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演示结果（模拟数据）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正式（GB 15618，证据 A）：镉、铅、砷、铜、锌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探索性（下限·文献参考，待复核）：阳离子交换量、全氮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KOS = B×(0.30R+0.25W+0.15M+0.20S+0.10E)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补充场景：F 有机物按同单位比较；G 无官方超标→证据不足</a:t>
            </a:r>
          </a:p>
        </p:txBody>
      </p:sp>
      <p:pic>
        <p:nvPicPr>
          <p:cNvPr id="7" name="Picture 6" descr="06_obstacle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78" y="1554480"/>
            <a:ext cx="5985163" cy="4572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74178" y="6144768"/>
            <a:ext cx="59851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运行截图（v1.2.1，模拟数据——仅供测试/演示）：障碍因子分析（课题一）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六、课题二：28 项重构指标导入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数值 + 类别指标逐格校验；7 个类别指标按表2.22 分级赋分；个旧测试表 28/28 可赋分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来源：D09_data_method_pack/05_feature_usability_19_vs_28.csv；recon_import_service.py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6692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1508760"/>
                <a:gridCol w="150876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场地(合成)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生产得分 / 等级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生态得分 / 等级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计算路径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84.2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87.76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SRS-B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84.42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91.27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84.91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87.76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SRS-D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87.96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84.98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84.42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90.71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526280"/>
            <a:ext cx="56692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子课题个旧测试表（来源未核实，仅作软件演示）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v1.1：19/28 项可用（类别列与含空格数值未解析）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v1.2：生产 28/28 项、81/81 点位可赋分；生态 18 项有规则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清洗：全氮 13 格、有效磷 4 格、CEC 1 格（不间断空格/制表符）</a:t>
            </a:r>
          </a:p>
        </p:txBody>
      </p:sp>
      <p:pic>
        <p:nvPicPr>
          <p:cNvPr id="8" name="Picture 7" descr="08_recon_import_S2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82165"/>
            <a:ext cx="4663440" cy="35623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720840" y="5662803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运行截图（v1.2.1，模拟数据——仅供测试/演示）：课题二指标导入结果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七、导入校验：错误不入库、告警可确认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非法类别、重复点位、物理范围、阶段错误、单位错误逐格报错；Excel 错误值按缺测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来源：demo/mc_v12/fixtures；demo_actual/comparison.json</a:t>
            </a:r>
          </a:p>
        </p:txBody>
      </p:sp>
      <p:pic>
        <p:nvPicPr>
          <p:cNvPr id="6" name="Picture 5" descr="09_recon_import_validation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07540"/>
            <a:ext cx="5120640" cy="391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" y="58374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运行截图（v1.2.1，模拟数据——仅供测试/演示）：课题二：非法类别报错</a:t>
            </a:r>
          </a:p>
        </p:txBody>
      </p:sp>
      <p:pic>
        <p:nvPicPr>
          <p:cNvPr id="8" name="Picture 7" descr="12_ssui_post_validation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07540"/>
            <a:ext cx="5120640" cy="391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17920" y="58374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运行截图（v1.2.1，模拟数据——仅供测试/演示）：课题三：单位错误报错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八、冻结方法基线 M-REC-2025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按方法文件表2.18–2.23 执行：权重原值不归一，内梅罗只用于缺测类别分，笔误显式登记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来源：docs/annual/method_baseline_v1.2.md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4864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114800"/>
              </a:tblGrid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冻结基线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综合得分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Σ(F×T)，表2.18 Σ=0.9643，不归一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缺测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表2.19/2.21 准则层；两类用内梅罗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&gt;50 可行；≤50 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污染物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超管制 10 / 超筛选 50 / 未超 100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点→面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数值中位数，类别众数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不换算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有机质≠有机碳；总铬≠六价铬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00200"/>
          <a:ext cx="484632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待确认事项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C库因子④档 690→69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生态有效土层④档 00→90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有机碳/剖面构型无表2.18 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类内 P权重 口径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旱地/水田未注明取低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M-07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六价铬 vs 总铬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生态剖面构型缺档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68680" y="5440680"/>
            <a:ext cx="10515600" cy="914400"/>
          </a:xfrm>
          <a:prstGeom prst="rect">
            <a:avLst/>
          </a:prstGeom>
          <a:solidFill>
            <a:srgbClr val="F9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v1.1 缺陷更正：</a:t>
            </a: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已测指标内重标化、总分套用内梅罗、无依据默认分（剖面 70、坡度 60）、BHC/DDT/BaP 超限=10、权重和 1.0506（混入准则层权重）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九、课题三：修复后 SSUI 独立导入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下载模板 → 上传校验（不入库）→ 确认入库（事务）→ 导出；本版为得分录入模式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来源：ssui_post_service.py；expected.json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12064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1371600"/>
                <a:gridCol w="1371600"/>
                <a:gridCol w="1188720"/>
              </a:tblGrid>
              <a:tr h="472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场地(合成)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 SSUI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 SSUI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与独立期望值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1.019189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0.968728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SRS-B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1.036062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0.362517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1.00737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0.954234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SRS-D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1.079447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0.998802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1.040996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1.007641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617720"/>
            <a:ext cx="512064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SSUI = f(t) × Σ vj·Sj × M</a:t>
            </a:r>
          </a:p>
          <a:p>
            <a:pPr algn="ctr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f(t) = 1 + 0.03t；M 生产 1.1–1.2，生态 1.05–1.1</a:t>
            </a:r>
          </a:p>
          <a:p>
            <a:pPr algn="ctr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权重取自方法 PPT 第 13/14 页；&gt;1 不截断并标注</a:t>
            </a:r>
          </a:p>
        </p:txBody>
      </p:sp>
      <p:pic>
        <p:nvPicPr>
          <p:cNvPr id="8" name="Picture 7" descr="11_ssui_post_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2615"/>
            <a:ext cx="5212080" cy="39814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172200" y="587235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运行截图（v1.2.1，模拟数据——仅供测试/演示）：修复后 SSUI 导入（课题三）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十、五类利用结论（合成场地逐一演示）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每个场地对应一个分支，系统结论与独立期望值全部一致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来源：demo/mc_v12/expected.json；Windows demo_actual/comparison.json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640080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914400"/>
                <a:gridCol w="109728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生产门禁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生态门禁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系统结论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期望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两轨均支持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生产与生态均支持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生产与生态均支持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SRS-B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仅生产支持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支持生产利用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支持生产利用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仅生态支持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支持生态利用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支持生态利用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SRS-D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两轨均不支持·重度超标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均不支持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均不支持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证据不足·缺测关键项目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5074920"/>
            <a:ext cx="640080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门禁优先：超管制值的一轨不能被任何评分抵消；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缺测必测项目 → 证据不足，并列出需补充的证据；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生产条件通过附安全利用条件；生态超筛选值须先做风险评估。</a:t>
            </a:r>
          </a:p>
        </p:txBody>
      </p:sp>
      <p:pic>
        <p:nvPicPr>
          <p:cNvPr id="8" name="Picture 7" descr="16_decision_D_nei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634615"/>
            <a:ext cx="3931920" cy="24574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452360" y="511035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运行截图（v1.2.1，模拟数据——仅供测试/演示）：SRS-D：重度超标两轨均不支持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十一、法规阈值：按官方标准全文核实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两项国标由生态环境部官网 PDF 逐行转录；GB 36600 的 12 项 VOC 已核实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来源：D10_threshold_verification_pack；data/standards/*_official.csv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85216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污染物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筛选值 一类/二类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管制值 一类/二类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氯甲烷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/ 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 / 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1,1-二氯乙烷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9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/ 100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1,1-二氯乙烯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/ 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/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顺/反-1,2-二氯乙烯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66/596；10/54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200/2000；31/163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1,2-二氯丙烷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四氯乙烷(1112/1122)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2.6/10；1.6/6.8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26/100；14/50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三氯乙烷(111/112)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701/840；0.6/2.8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840/840；5/15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1,2,3-三氯丙烷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 / 0.5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 / 5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间+对二甲苯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163 / 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500 / 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903720" y="1600200"/>
            <a:ext cx="448056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更正内容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多氯联苯(总量) 0.2/2.0 → 官方 0.14/0.38（管制 1.4/3.8）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删除 DDT类、六六六总量、荧蒽/芘/蒽/菲等“族群匹配”替代值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GB 15618 铜：果园/其他（原误标为水田）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种子阈值表补入 GB 15618 管制值；升级时自动更正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知识库氯甲烷、氯苯场景字段对调；PCB/二噁英指数解析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单位 mg/kg；GB 36600-2018 表1，标准第 3–4 页。规划用途不明确时按第一类用地（5.3.1）。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十二、报告、备份与模拟数据标签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报告由同一评价快照生成：正文、Excel、PDF、DOCX 数字一致；修复前/后与批次分开统计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来源：evaluation_snapshot.py；report_document.py；report_invariants.py；test_v121_report_consistency.py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3291840" cy="50292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03120"/>
            <a:ext cx="329184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同一评价快照 → PDF / DOCX / Excel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修复前/后、批次、样品去重分列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嵌入中文字体、表格与图件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600200"/>
            <a:ext cx="3291840" cy="50292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备份与恢复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103120"/>
            <a:ext cx="329184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每天 02:00 自动加密备份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恢复须二次确认，先自动快照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重启后结论逐字一致（实测）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6136" y="1600200"/>
            <a:ext cx="3291840" cy="5029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模拟数据标签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2103120"/>
            <a:ext cx="329184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模拟数据——仅供测试/演示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导入自动识别并全链路标记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正式首启为空库</a:t>
            </a:r>
          </a:p>
        </p:txBody>
      </p:sp>
      <p:pic>
        <p:nvPicPr>
          <p:cNvPr id="12" name="Picture 11" descr="21_trac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1" y="3749039"/>
            <a:ext cx="3877056" cy="2423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490471" y="6190488"/>
            <a:ext cx="3877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运行截图（v1.2.1，模拟数据——仅供测试/演示）：场地追溯详情（软件里程碑、五阶段记录、报告）</a:t>
            </a:r>
          </a:p>
        </p:txBody>
      </p:sp>
      <p:pic>
        <p:nvPicPr>
          <p:cNvPr id="14" name="Picture 13" descr="24_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171" y="3749039"/>
            <a:ext cx="3172136" cy="2423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192171" y="6190488"/>
            <a:ext cx="3172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运行截图（v1.2.1，模拟数据——仅供测试/演示）：系统管理（备份恢复）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十三、年度验收演示脚本（约 20 分钟）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同一演示包按课题顺序演示；每一步说明使用修复前还是修复后数据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来源：D13 演示操作脚本；demo/mc_v12/metadata.json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1046988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3291840"/>
                <a:gridCol w="3383280"/>
                <a:gridCol w="2697480"/>
              </a:tblGrid>
              <a:tr h="600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看点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首启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 → 设置管理员 → 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空库、无测试账户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课题一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site_A/01_修复前检测数据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数据导入 → 障碍因子分析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关键障碍因子 Top-N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课题二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site_A/02_课题二重构指标；fixtures/F02、F05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重构指标导入 → 预览 → 确认 → 查看/导出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 项指标、逐格校验、计算过程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课题三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site_A/03、04_课题三SSUI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下载模板 → 上传 → 确认 → 导出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SSUI 与期望值一致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site_A…E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修复后利用结论（水田）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五类结论逐一出现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追溯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全流程追溯 → 生成报告 / 评价快照 Excel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软件里程碑与五阶段分开；报告与 Excel 同一快照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十四、验收证据与发布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Windows 实装验收、重启、升级、便携版均执行；发布为年度验收候选版（预发布）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来源：Windows workflow run；GitHub Release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4864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2560320"/>
              </a:tblGrid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首启 + 7 场景 + 8 夹具 + 跨渠道一致性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221/221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重启一致性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26/26 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v1.1.0 → v1.2.1 升级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11/11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v1.2.0 → v1.2.1 升级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13/13 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便携版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7/7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标准(非管理员)账户（CI 计划任务）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7/7 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37960" y="1600200"/>
            <a:ext cx="484632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发布信息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版本：v1.2.1（预发布，修复候选）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标签：v1.2.1-rc.1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提交：e69116c64904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工作流：38046495198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资产：安装包、便携版、SHA-256、手册 DOCX/PDF、PPTX、演示包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https://github.com/lensis22414017/SRS/releases/tag/v1.2.1-rc.1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十五、三项结论与待办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软件/演示就绪；科学方法与真实修复后数据验证分别跟踪，不混为一谈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来源：FINAL_REPORT.md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10469880" cy="2377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743200"/>
                <a:gridCol w="5349240"/>
              </a:tblGrid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年度软件与演示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修复候选（待甲方验收）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审计 R01–R10 修复与回归；Windows 实装验收；文档与截图同版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科学方法验证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未完成（冻结基线执行）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Q01–Q18 决策登记：17 项待答复、1 项软件侧部分解决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真实修复后验证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未开始（缺数据）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尚无实测修复后数据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206240"/>
            <a:ext cx="1046988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需要各方配合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  陈亮、宋伟杰老师确认方法事项（Q01–Q18 决策登记）；文献参考阈值是否批准为正式限值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  提供至少 1 个场地的实测修复后数据（D1–D25 与污染物）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  提供 D1–D25 原始值 → 得分分级规则，以实现原始数据计算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  决定公开仓库中甲方原始数据表的处理方式（仓库为公开可见）</a:t>
            </a:r>
          </a:p>
        </p:txBody>
      </p:sp>
    </p:spTree>
  </p:cSld>
  <p:clrMapOvr>
    <a:masterClrMapping/>
  </p:clrMapOvr>
</p:sld>
</file>

<file path=ppt/tags/tag2.xml><?xml version="1.0" encoding="utf-8"?>
<p:tagLst xmlns:p="http://schemas.openxmlformats.org/presentationml/2006/main">
  <p:tag name="resource_record_key" val="{&quot;29&quot;:[50053008]}"/>
</p:tagLst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</Words>
  <Application>WPS 演示</Application>
  <PresentationFormat>宽屏</PresentationFormat>
  <Paragraphs>200</Paragraphs>
  <Slides>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黑体</vt:lpstr>
      <vt:lpstr>Times New Roman</vt:lpstr>
      <vt:lpstr>Gill Sans MT</vt:lpstr>
      <vt:lpstr>华文中宋</vt:lpstr>
      <vt:lpstr>Calibri</vt:lpstr>
      <vt:lpstr>等线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NJAU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Xiaojie HU</dc:creator>
  <cp:lastModifiedBy>Lensis</cp:lastModifiedBy>
  <cp:revision>2224</cp:revision>
  <cp:lastPrinted>2025-09-27T01:38:00Z</cp:lastPrinted>
  <dcterms:created xsi:type="dcterms:W3CDTF">2025-09-27T01:38:00Z</dcterms:created>
  <dcterms:modified xsi:type="dcterms:W3CDTF">2025-10-03T06:01:19Z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B3C4524D4F23C22F7037D768D5E760F1_43</vt:lpwstr>
  </property>
  <property fmtid="{D5CDD505-2E9C-101B-9397-08002B2CF9AE}" pid="3" name="KSOProductBuildVer">
    <vt:lpwstr>2052-12.1.0.21171</vt:lpwstr>
  </property>
</Properties>
</file>