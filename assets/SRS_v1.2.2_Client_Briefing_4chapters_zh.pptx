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166" r:id="rId2"/>
    <p:sldId id="1180" r:id="rId3"/>
    <p:sldId id="1170" r:id="rId4"/>
    <p:sldId id="1167" r:id="rId5"/>
    <p:sldId id="1169" r:id="rId6"/>
    <p:sldId id="1171" r:id="rId7"/>
    <p:sldId id="1172" r:id="rId8"/>
    <p:sldId id="1173" r:id="rId9"/>
    <p:sldId id="1174" r:id="rId10"/>
    <p:sldId id="1175" r:id="rId11"/>
    <p:sldId id="1181" r:id="rId25"/>
    <p:sldId id="1177" r:id="rId12"/>
    <p:sldId id="1176" r:id="rId13"/>
    <p:sldId id="1168" r:id="rId14"/>
    <p:sldId id="1178" r:id="rId15"/>
    <p:sldId id="1179" r:id="rId16"/>
  </p:sldIdLst>
  <p:sldSz cx="12192000" cy="6858000"/>
  <p:notesSz cx="6761163" cy="9942513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27" userDrawn="1">
          <p15:clr>
            <a:srgbClr val="A4A3A4"/>
          </p15:clr>
        </p15:guide>
        <p15:guide id="3" orient="horz" pos="510" userDrawn="1">
          <p15:clr>
            <a:srgbClr val="A4A3A4"/>
          </p15:clr>
        </p15:guide>
        <p15:guide id="4" orient="horz" pos="4147" userDrawn="1">
          <p15:clr>
            <a:srgbClr val="A4A3A4"/>
          </p15:clr>
        </p15:guide>
        <p15:guide id="5" pos="3792" userDrawn="1">
          <p15:clr>
            <a:srgbClr val="A4A3A4"/>
          </p15:clr>
        </p15:guide>
        <p15:guide id="6" pos="4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al G" initials="o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2CC"/>
    <a:srgbClr val="328CCC"/>
    <a:srgbClr val="1F4E79"/>
    <a:srgbClr val="0070C0"/>
    <a:srgbClr val="00CC99"/>
    <a:srgbClr val="0000FF"/>
    <a:srgbClr val="0033CC"/>
    <a:srgbClr val="3333FF"/>
    <a:srgbClr val="FAD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2003" autoAdjust="0"/>
  </p:normalViewPr>
  <p:slideViewPr>
    <p:cSldViewPr snapToGrid="0" showGuides="1">
      <p:cViewPr varScale="1">
        <p:scale>
          <a:sx n="133" d="100"/>
          <a:sy n="133" d="100"/>
        </p:scale>
        <p:origin x="1146" y="114"/>
      </p:cViewPr>
      <p:guideLst>
        <p:guide pos="7227"/>
        <p:guide orient="horz" pos="510"/>
        <p:guide orient="horz" pos="4147"/>
        <p:guide pos="3792"/>
        <p:guide pos="431"/>
      </p:guideLst>
    </p:cSldViewPr>
  </p:slideViewPr>
  <p:outlineViewPr>
    <p:cViewPr>
      <p:scale>
        <a:sx n="33" d="100"/>
        <a:sy n="33" d="100"/>
      </p:scale>
      <p:origin x="0" y="-20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373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8A1EB-DF80-4003-9E04-BB41220F6660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4ADD2-1C5F-4428-A769-085903AC60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2994-5314-4CA4-A74E-B0F38D7EB6B4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EF57-AF72-4489-BD0E-8A7EE71D79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200" b="0" dirty="0"/>
              <a:t>本次汇报介绍污染场地土壤生态—生产功能重构监管系统SRS已经形成的研究与系统成果。内容分为课题背景、系统架构、主要功能、课题成果与应用价值四部分。技术与业务主线从实际场地数据出发，识别关键障碍，评价生态与生产功能条件，关联候选技术与利用方案，并组织全过程监管材料。</a:t>
            </a:r>
            <a:endParaRPr 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2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污染场地的用途分析需要把污染风险与土壤功能条件联系起来。污染物检测值提供风险信息，酸碱度、养分和结构等指标反映生产与生态用途条件。课题一、二承接修复前的障碍识别和功能条件分析，课题三以独立修复后检测和经济数据承接SSUI评价。SRS已经把场景数据、诊断评价方法与过程材料关联到同一场地。下面介绍系统怎样组织这些任务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系统采用前端展示、后端服务、算法引擎、数据存储四层结构。前端提供场地、分析和材料界面，后端组织业务与权限，算法层集成KOS、功能重构与SSUI，数据层关联场地、采样记录、测值、计算结果及材料。本页数量按 v1.2.2 源码重新统计：左侧导航 11 项，接口 123 个（108 个路径），数据表 36 张，模型注册表 8 个（4 个启用、4 个探索）；字段加密目前用于用户邮箱与电话。下一页按系统自己的业务分类说明入口。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2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系统主要功能沿用软件的四类业务：数据管理、决策管理、全流程追溯、系统管理。数据管理统一检测表与场地资料，决策管理包括障碍诊断、功能重构、SSUI和方案推荐，全流程追溯组织五阶段材料，系统管理提供权限、日志与维护支撑。修复前分析和修复后评价使用各自输入，阶段材料管理贯穿上述任务。接下来说明业务流程中的数据与结果关系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流程图区分修复前分析和修复后评价。检测表经列名映射、单位校验和场地关联进入分析，修复前数据支持障碍识别、功能评价及候选技术匹配。修复后 SSUI 使用独立的修复后污染物检测和 D1–D25 指标得分，本版为得分录入模式：原始值到得分、经济原值到 D18–D25 得分的换算尚未实现，经济数据录入只作资料留存，不参与 SSUI 计算。下方五阶段材料管理将调查、方案、施工、效果与管护资料组织起来。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数据管理已接入乡村建设用地、南京栖霞和云南个旧三类场景。原表分别有 8、49 和 134 条采样记录，共 191 条，记录数不等于独立地块数；导入测值分别为 192、1911 和 1876 条，共 3979 条（v1.2.2 回归复核）。右表“未映射项”为 v1.2.2 生态轨诊断中未能与官方物质一一对应的名称数，例如栖霞表中的“氯仿-d”是实验室质控用的氘代氯仿，v1.2.2 起不再按氯仿限值判定。界面截图为演示数据。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数据基础包括统一障碍因子知识库、官方标准阈值库、文献训练数据、场景检测表和技术库。知识库 403 条中有 402 条因子记录及 1 条说明行，按来源为 GB 36600 170 条、TD/T 1036 124 条、GB 15618 59 条、CJ/T 340 44 条、CJJ 82 5 条（v1.2.2 复核）。官方阈值库 233 条由标准 PDF 逐行转录，是法规门禁与正式障碍判定的唯一依据。文献样本、观测数与来源数沿用已交付资料。演示数据包与夹具均为合成数据，只用于操作展示与回归检查。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KOS 全称 Key Obstacle Score，关键障碍综合评分。系统先判断实测值是否超过本轨官方标准（生产 GB 15618、生态 GB 36600），只有单位可证、证据等级 A/B 的超标因子进入正式排名；文献参考值和启发式区间只进入探索性提示，并标明上限或下限方向。v1.2.2 起，单体物质按名称与 CAS 号绑定自身限值，例如邻苯二甲酸二(2-乙基己基)酯对照 42 mg/kg（第一类用地），不再把“邻苯二甲酸酯总量”或其他单体套用它的限值；同位素标记物与单个异构体转人工复核。稳定性分量取模型级 Top-5 稳定性，缺失时为 0.8。模型性能表为原交付文献来源分组测试记录，局部 SHAP 为辅助解释。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功能重构按冻结基线 M-REC-2025 执行：28 项指标经模板导入并逐格校验，按方法表 2.22 分等赋分，表 2.18/2.20 权重原值直接使用、不归一化，缺测时按表 2.19/2.21 的准则层权重处理，土壤质量类与修复潜力类用内梅罗指数计类别分；综合得分大于 50 为可行。方法参数待课题组最终确认（Q01–Q18），系统没有自行修改。截图为演示场地的计算过程。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SSUI 承接修复后持续利用任务，按安全性与经济性组织 25 项元指标，D1–D17 为安全相关，D18–D25 为成本、产出与效益。本版为得分录入模式：各项得分由课题组按分级标准赋分后导入，原始值到得分以及经济原值到得分的换算尚未实现。方法文件只定义了 0 到 1.0 的等级区间，而 f(t) 不小于 1、M 不小于 1.05，计算值可能超过 1；v1.2.2 起超过定义域的结果保留原值、权重和方法版本，但不给等级、不作功能支持判断，利用结论中该轨为证据不足。截图为 v1.2.1 演示包旧得分的回放：1.019189 旧版曾记为高度可持续，现已不分级。0.6 支持阈值为暂定。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云南个旧原表有134条采样记录。本页统计按原表计算，重金属单位为mg/kg，pH无量纲。铅、铜、砷、锌中位数分别约8347、808、2020、3226，pH中位数6.9，范围2.1至8.3。原交付诊断关注上述因子。系统将重点障碍与技术库关联，展示植物修复、农艺调控、固化稳定化、客土换土和土壤淋洗等候选方向，结合适用性与成本支持方案比较。本页展示修复前场景与候选技术关联，不提供未经实测的修复后结论。后续过程材料由全流程追溯承接。 演示场地 H 中，推荐结果的第 1 名候选在“方案审批”阶段记录为选定方案并写明选择理由，报告中可追溯（v1.2.2）。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全流程追溯按调查评估、方案审批、施工监理、效果评估和后期管护组织场地记录与材料。v1.2.2 用合成场地 H 演示完整过程：企业用户导入数据并上传各阶段材料，模拟审核员审核通过或退回，退回必须写明原因，企业重新提交修订稿；方案审批阶段记录选定的推荐方案。监管人员可以查看和下载，不能修改。报告逐份列出材料的 SHA-256 指纹与上传者，程序重启后状态、附件和方案选择保持。所有材料、单位和审核人均为模拟。产品目前没有独立的审核权限，职责分离需业主决定。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系统管理已形成四类用户权限、操作日志、字段加密、备份恢复及运行维护功能。管理员承接账户和维护，企业用户使用场地与项目资料，第三方提供检测及技术资料，监管人员查阅评价与过程材料，具体访问范围以系统配置为准。日志组织操作人、时间、对象与内容，支持操作复核。数据保护和配套运维文档支持部署与日常维护。这里说明系统已有功能，成果应用与验证记录在下一部分集中展示。 当前权限模型中，具备数据录入权限的企业或第三方用户也能把业务阶段标记为完成，若需提交人与审核人分离，需要业主决定是否增加独立审核权限。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三类场景检验不同输入结构的适配：乡村数据包含用途与土层，栖霞数据包含复杂有机物名称与半定量附表，个旧数据包含高浓度重金属和 pH 差异。原表合计 191 条记录，导入测值 3979 条。v1.2.2 验证记录：本机后端自动化测试 663 项通过（12 项跳过）；GitHub Actions Windows 虚拟机上实际安装的程序完成全流程 303 项检查（含用途未选择/无效/非建设用地生态用途/明确选择）、重启 34 项、两条升级路径与便携版、标准账户检查，全部通过；三个原始场地私有回归通过。这些是自动化测试，不等同甲方 Windows 10/11 实机验收。 三类场景不与三个课题作一一对应。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t>已形成的成果包括知识库和数据资产、模型工件、KOS诊断与解释、生产生态功能评价、SSUI体系、技术关联和五阶段材料管理。软件源码、数据库脚本、安装程序、需求设计文档、用户及运维手册构成成果载体，软件著作权申请材料列入配套资料。研究价值体现在实测数据与判断依据关联、障碍与功能条件关联、分析结果与候选技术关联，以及研究结果与全过程材料关联。成果已经为污染场地利用方案讨论和全过程监管形成系统支撑。 版本状态：v1.2.2 为收尾候选版（预发布），Windows 安装、升级与重启在 GitHub Actions 虚拟机上实测；甲方 Windows 10/11 实机验收、课题组方法确认（Q01–Q18）和实测修复后数据是后续需要完成的外部事项。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修复后利用结论先要求明确用途：生产轨选择农用地类型，生态轨选择生态用地类别。没有选择时系统给出“需人工选择用途”，只显示按最严口径的假设性保守筛查；选择“非建设用地生态用途”时，GB 36600 是否适用尚需确认，系统给出“法规适用性待确认”，不默认第一类用地。用途明确后先过法规门禁，超管制值不能被评分抵消；门禁通过后再看功能评分。演示包 A 到 E 五个场地分别对应五个结论分支，均为合成数据。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 txBox="1">
            <a:spLocks noChangeArrowheads="1"/>
          </p:cNvSpPr>
          <p:nvPr userDrawn="1"/>
        </p:nvSpPr>
        <p:spPr bwMode="auto">
          <a:xfrm>
            <a:off x="838975" y="22791"/>
            <a:ext cx="8355012" cy="649287"/>
          </a:xfrm>
          <a:prstGeom prst="rect">
            <a:avLst/>
          </a:prstGeom>
          <a:noFill/>
          <a:ln>
            <a:noFill/>
          </a:ln>
          <a:effectLst/>
        </p:spPr>
        <p:txBody>
          <a:bodyPr lIns="93911" tIns="46956" rIns="93911" bIns="46956" anchor="ctr"/>
          <a:lstStyle>
            <a:lvl1pPr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endParaRPr lang="zh-CN" altLang="en-US" sz="2600" b="1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微软雅黑" panose="020B0703020204020201" pitchFamily="34" charset="-122"/>
              <a:cs typeface="Arial" panose="020B0604020202090204" pitchFamily="34" charset="0"/>
              <a:sym typeface="Arial" panose="020B0604020202090204" pitchFamily="34" charset="0"/>
            </a:endParaRPr>
          </a:p>
        </p:txBody>
      </p:sp>
      <p:pic>
        <p:nvPicPr>
          <p:cNvPr id="5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7" name="矩形: 剪去单角 6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直角三角形 8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4" name="矩形: 剪去单角 3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6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30480"/>
            <a:ext cx="12192000" cy="979211"/>
            <a:chOff x="0" y="-30480"/>
            <a:chExt cx="12192000" cy="979211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30480"/>
              <a:ext cx="12192000" cy="975258"/>
              <a:chOff x="0" y="0"/>
              <a:chExt cx="12192000" cy="975258"/>
            </a:xfrm>
          </p:grpSpPr>
          <p:sp>
            <p:nvSpPr>
              <p:cNvPr id="13" name="object 3"/>
              <p:cNvSpPr/>
              <p:nvPr/>
            </p:nvSpPr>
            <p:spPr>
              <a:xfrm flipV="1">
                <a:off x="0" y="0"/>
                <a:ext cx="12192000" cy="89189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12800">
                    <a:moveTo>
                      <a:pt x="9144000" y="0"/>
                    </a:moveTo>
                    <a:lnTo>
                      <a:pt x="0" y="0"/>
                    </a:lnTo>
                    <a:lnTo>
                      <a:pt x="0" y="812291"/>
                    </a:lnTo>
                    <a:lnTo>
                      <a:pt x="9144000" y="812291"/>
                    </a:lnTo>
                    <a:lnTo>
                      <a:pt x="9144000" y="0"/>
                    </a:lnTo>
                    <a:close/>
                  </a:path>
                </a:pathLst>
              </a:custGeom>
              <a:solidFill>
                <a:srgbClr val="E3632D">
                  <a:alpha val="60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10131" y="875560"/>
                <a:ext cx="575618" cy="99698"/>
              </a:xfrm>
              <a:custGeom>
                <a:avLst/>
                <a:gdLst>
                  <a:gd name="connsiteX0" fmla="*/ 70158 w 575618"/>
                  <a:gd name="connsiteY0" fmla="*/ 0 h 99698"/>
                  <a:gd name="connsiteX1" fmla="*/ 102752 w 575618"/>
                  <a:gd name="connsiteY1" fmla="*/ 0 h 99698"/>
                  <a:gd name="connsiteX2" fmla="*/ 118418 w 575618"/>
                  <a:gd name="connsiteY2" fmla="*/ 0 h 99698"/>
                  <a:gd name="connsiteX3" fmla="*/ 153552 w 575618"/>
                  <a:gd name="connsiteY3" fmla="*/ 0 h 99698"/>
                  <a:gd name="connsiteX4" fmla="*/ 169218 w 575618"/>
                  <a:gd name="connsiteY4" fmla="*/ 0 h 99698"/>
                  <a:gd name="connsiteX5" fmla="*/ 204352 w 575618"/>
                  <a:gd name="connsiteY5" fmla="*/ 0 h 99698"/>
                  <a:gd name="connsiteX6" fmla="*/ 220018 w 575618"/>
                  <a:gd name="connsiteY6" fmla="*/ 0 h 99698"/>
                  <a:gd name="connsiteX7" fmla="*/ 255152 w 575618"/>
                  <a:gd name="connsiteY7" fmla="*/ 0 h 99698"/>
                  <a:gd name="connsiteX8" fmla="*/ 270818 w 575618"/>
                  <a:gd name="connsiteY8" fmla="*/ 0 h 99698"/>
                  <a:gd name="connsiteX9" fmla="*/ 305952 w 575618"/>
                  <a:gd name="connsiteY9" fmla="*/ 0 h 99698"/>
                  <a:gd name="connsiteX10" fmla="*/ 321618 w 575618"/>
                  <a:gd name="connsiteY10" fmla="*/ 0 h 99698"/>
                  <a:gd name="connsiteX11" fmla="*/ 356752 w 575618"/>
                  <a:gd name="connsiteY11" fmla="*/ 0 h 99698"/>
                  <a:gd name="connsiteX12" fmla="*/ 372418 w 575618"/>
                  <a:gd name="connsiteY12" fmla="*/ 0 h 99698"/>
                  <a:gd name="connsiteX13" fmla="*/ 407552 w 575618"/>
                  <a:gd name="connsiteY13" fmla="*/ 0 h 99698"/>
                  <a:gd name="connsiteX14" fmla="*/ 423218 w 575618"/>
                  <a:gd name="connsiteY14" fmla="*/ 0 h 99698"/>
                  <a:gd name="connsiteX15" fmla="*/ 458352 w 575618"/>
                  <a:gd name="connsiteY15" fmla="*/ 0 h 99698"/>
                  <a:gd name="connsiteX16" fmla="*/ 474018 w 575618"/>
                  <a:gd name="connsiteY16" fmla="*/ 0 h 99698"/>
                  <a:gd name="connsiteX17" fmla="*/ 509152 w 575618"/>
                  <a:gd name="connsiteY17" fmla="*/ 0 h 99698"/>
                  <a:gd name="connsiteX18" fmla="*/ 524818 w 575618"/>
                  <a:gd name="connsiteY18" fmla="*/ 0 h 99698"/>
                  <a:gd name="connsiteX19" fmla="*/ 575618 w 575618"/>
                  <a:gd name="connsiteY19" fmla="*/ 0 h 99698"/>
                  <a:gd name="connsiteX20" fmla="*/ 505460 w 575618"/>
                  <a:gd name="connsiteY20" fmla="*/ 99698 h 99698"/>
                  <a:gd name="connsiteX21" fmla="*/ 454660 w 575618"/>
                  <a:gd name="connsiteY21" fmla="*/ 99698 h 99698"/>
                  <a:gd name="connsiteX22" fmla="*/ 431609 w 575618"/>
                  <a:gd name="connsiteY22" fmla="*/ 99698 h 99698"/>
                  <a:gd name="connsiteX23" fmla="*/ 403860 w 575618"/>
                  <a:gd name="connsiteY23" fmla="*/ 99698 h 99698"/>
                  <a:gd name="connsiteX24" fmla="*/ 380809 w 575618"/>
                  <a:gd name="connsiteY24" fmla="*/ 99698 h 99698"/>
                  <a:gd name="connsiteX25" fmla="*/ 353060 w 575618"/>
                  <a:gd name="connsiteY25" fmla="*/ 99698 h 99698"/>
                  <a:gd name="connsiteX26" fmla="*/ 330009 w 575618"/>
                  <a:gd name="connsiteY26" fmla="*/ 99698 h 99698"/>
                  <a:gd name="connsiteX27" fmla="*/ 302260 w 575618"/>
                  <a:gd name="connsiteY27" fmla="*/ 99698 h 99698"/>
                  <a:gd name="connsiteX28" fmla="*/ 279209 w 575618"/>
                  <a:gd name="connsiteY28" fmla="*/ 99698 h 99698"/>
                  <a:gd name="connsiteX29" fmla="*/ 251460 w 575618"/>
                  <a:gd name="connsiteY29" fmla="*/ 99698 h 99698"/>
                  <a:gd name="connsiteX30" fmla="*/ 228409 w 575618"/>
                  <a:gd name="connsiteY30" fmla="*/ 99698 h 99698"/>
                  <a:gd name="connsiteX31" fmla="*/ 200660 w 575618"/>
                  <a:gd name="connsiteY31" fmla="*/ 99698 h 99698"/>
                  <a:gd name="connsiteX32" fmla="*/ 177609 w 575618"/>
                  <a:gd name="connsiteY32" fmla="*/ 99698 h 99698"/>
                  <a:gd name="connsiteX33" fmla="*/ 149860 w 575618"/>
                  <a:gd name="connsiteY33" fmla="*/ 99698 h 99698"/>
                  <a:gd name="connsiteX34" fmla="*/ 126809 w 575618"/>
                  <a:gd name="connsiteY34" fmla="*/ 99698 h 99698"/>
                  <a:gd name="connsiteX35" fmla="*/ 99060 w 575618"/>
                  <a:gd name="connsiteY35" fmla="*/ 99698 h 99698"/>
                  <a:gd name="connsiteX36" fmla="*/ 76009 w 575618"/>
                  <a:gd name="connsiteY36" fmla="*/ 99698 h 99698"/>
                  <a:gd name="connsiteX37" fmla="*/ 48260 w 575618"/>
                  <a:gd name="connsiteY37" fmla="*/ 99698 h 99698"/>
                  <a:gd name="connsiteX38" fmla="*/ 25209 w 575618"/>
                  <a:gd name="connsiteY38" fmla="*/ 99698 h 99698"/>
                  <a:gd name="connsiteX39" fmla="*/ 0 w 575618"/>
                  <a:gd name="connsiteY39" fmla="*/ 99698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75618" h="99698">
                    <a:moveTo>
                      <a:pt x="70158" y="0"/>
                    </a:moveTo>
                    <a:lnTo>
                      <a:pt x="102752" y="0"/>
                    </a:lnTo>
                    <a:lnTo>
                      <a:pt x="118418" y="0"/>
                    </a:lnTo>
                    <a:lnTo>
                      <a:pt x="153552" y="0"/>
                    </a:lnTo>
                    <a:lnTo>
                      <a:pt x="169218" y="0"/>
                    </a:lnTo>
                    <a:lnTo>
                      <a:pt x="204352" y="0"/>
                    </a:lnTo>
                    <a:lnTo>
                      <a:pt x="220018" y="0"/>
                    </a:lnTo>
                    <a:lnTo>
                      <a:pt x="255152" y="0"/>
                    </a:lnTo>
                    <a:lnTo>
                      <a:pt x="270818" y="0"/>
                    </a:lnTo>
                    <a:lnTo>
                      <a:pt x="305952" y="0"/>
                    </a:lnTo>
                    <a:lnTo>
                      <a:pt x="321618" y="0"/>
                    </a:lnTo>
                    <a:lnTo>
                      <a:pt x="356752" y="0"/>
                    </a:lnTo>
                    <a:lnTo>
                      <a:pt x="372418" y="0"/>
                    </a:lnTo>
                    <a:lnTo>
                      <a:pt x="407552" y="0"/>
                    </a:lnTo>
                    <a:lnTo>
                      <a:pt x="423218" y="0"/>
                    </a:lnTo>
                    <a:lnTo>
                      <a:pt x="458352" y="0"/>
                    </a:lnTo>
                    <a:lnTo>
                      <a:pt x="474018" y="0"/>
                    </a:lnTo>
                    <a:lnTo>
                      <a:pt x="509152" y="0"/>
                    </a:lnTo>
                    <a:lnTo>
                      <a:pt x="524818" y="0"/>
                    </a:lnTo>
                    <a:lnTo>
                      <a:pt x="575618" y="0"/>
                    </a:lnTo>
                    <a:lnTo>
                      <a:pt x="505460" y="99698"/>
                    </a:lnTo>
                    <a:lnTo>
                      <a:pt x="454660" y="99698"/>
                    </a:lnTo>
                    <a:lnTo>
                      <a:pt x="431609" y="99698"/>
                    </a:lnTo>
                    <a:lnTo>
                      <a:pt x="403860" y="99698"/>
                    </a:lnTo>
                    <a:lnTo>
                      <a:pt x="380809" y="99698"/>
                    </a:lnTo>
                    <a:lnTo>
                      <a:pt x="353060" y="99698"/>
                    </a:lnTo>
                    <a:lnTo>
                      <a:pt x="330009" y="99698"/>
                    </a:lnTo>
                    <a:lnTo>
                      <a:pt x="302260" y="99698"/>
                    </a:lnTo>
                    <a:lnTo>
                      <a:pt x="279209" y="99698"/>
                    </a:lnTo>
                    <a:lnTo>
                      <a:pt x="251460" y="99698"/>
                    </a:lnTo>
                    <a:lnTo>
                      <a:pt x="228409" y="99698"/>
                    </a:lnTo>
                    <a:lnTo>
                      <a:pt x="200660" y="99698"/>
                    </a:lnTo>
                    <a:lnTo>
                      <a:pt x="177609" y="99698"/>
                    </a:lnTo>
                    <a:lnTo>
                      <a:pt x="149860" y="99698"/>
                    </a:lnTo>
                    <a:lnTo>
                      <a:pt x="126809" y="99698"/>
                    </a:lnTo>
                    <a:lnTo>
                      <a:pt x="99060" y="99698"/>
                    </a:lnTo>
                    <a:lnTo>
                      <a:pt x="76009" y="99698"/>
                    </a:lnTo>
                    <a:lnTo>
                      <a:pt x="48260" y="99698"/>
                    </a:lnTo>
                    <a:lnTo>
                      <a:pt x="25209" y="99698"/>
                    </a:lnTo>
                    <a:lnTo>
                      <a:pt x="0" y="99698"/>
                    </a:lnTo>
                    <a:close/>
                  </a:path>
                </a:pathLst>
              </a:custGeom>
              <a:solidFill>
                <a:srgbClr val="9B2100"/>
              </a:solidFill>
            </p:spPr>
            <p:txBody>
              <a:bodyPr wrap="square" lIns="0" tIns="0" rIns="0" bIns="0" rtlCol="0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8716" y="861413"/>
              <a:ext cx="11523284" cy="87318"/>
              <a:chOff x="668716" y="861413"/>
              <a:chExt cx="11523284" cy="87318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738566" y="861413"/>
                <a:ext cx="11453434" cy="0"/>
              </a:xfrm>
              <a:prstGeom prst="line">
                <a:avLst/>
              </a:prstGeom>
              <a:ln w="9525">
                <a:solidFill>
                  <a:srgbClr val="9B21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任意多边形: 形状 11"/>
              <p:cNvSpPr/>
              <p:nvPr/>
            </p:nvSpPr>
            <p:spPr>
              <a:xfrm>
                <a:off x="668716" y="902694"/>
                <a:ext cx="3585491" cy="46037"/>
              </a:xfrm>
              <a:custGeom>
                <a:avLst/>
                <a:gdLst>
                  <a:gd name="connsiteX0" fmla="*/ 44596 w 3585491"/>
                  <a:gd name="connsiteY0" fmla="*/ 0 h 46037"/>
                  <a:gd name="connsiteX1" fmla="*/ 1400638 w 3585491"/>
                  <a:gd name="connsiteY1" fmla="*/ 0 h 46037"/>
                  <a:gd name="connsiteX2" fmla="*/ 2229449 w 3585491"/>
                  <a:gd name="connsiteY2" fmla="*/ 0 h 46037"/>
                  <a:gd name="connsiteX3" fmla="*/ 3585491 w 3585491"/>
                  <a:gd name="connsiteY3" fmla="*/ 0 h 46037"/>
                  <a:gd name="connsiteX4" fmla="*/ 3540896 w 3585491"/>
                  <a:gd name="connsiteY4" fmla="*/ 46037 h 46037"/>
                  <a:gd name="connsiteX5" fmla="*/ 2184854 w 3585491"/>
                  <a:gd name="connsiteY5" fmla="*/ 46037 h 46037"/>
                  <a:gd name="connsiteX6" fmla="*/ 1356042 w 3585491"/>
                  <a:gd name="connsiteY6" fmla="*/ 46037 h 46037"/>
                  <a:gd name="connsiteX7" fmla="*/ 0 w 3585491"/>
                  <a:gd name="connsiteY7" fmla="*/ 46037 h 46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85491" h="46037">
                    <a:moveTo>
                      <a:pt x="44596" y="0"/>
                    </a:moveTo>
                    <a:lnTo>
                      <a:pt x="1400638" y="0"/>
                    </a:lnTo>
                    <a:lnTo>
                      <a:pt x="2229449" y="0"/>
                    </a:lnTo>
                    <a:lnTo>
                      <a:pt x="3585491" y="0"/>
                    </a:lnTo>
                    <a:lnTo>
                      <a:pt x="3540896" y="46037"/>
                    </a:lnTo>
                    <a:lnTo>
                      <a:pt x="2184854" y="46037"/>
                    </a:lnTo>
                    <a:lnTo>
                      <a:pt x="1356042" y="46037"/>
                    </a:lnTo>
                    <a:lnTo>
                      <a:pt x="0" y="46037"/>
                    </a:lnTo>
                    <a:close/>
                  </a:path>
                </a:pathLst>
              </a:custGeom>
              <a:gradFill>
                <a:gsLst>
                  <a:gs pos="0">
                    <a:srgbClr val="9B2100"/>
                  </a:gs>
                  <a:gs pos="100000">
                    <a:srgbClr val="9B2100">
                      <a:alpha val="0"/>
                    </a:srgbClr>
                  </a:gs>
                </a:gsLst>
                <a:lin ang="0" scaled="1"/>
              </a:gradFill>
            </p:spPr>
            <p:txBody>
              <a:bodyPr wrap="square" lIns="0" tIns="0" rIns="0" bIns="0" rtlCol="0"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15846-DB09-455D-894B-48F5D33C3CEC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E5441-707C-4777-96EA-787680CA94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tags" Target="../tags/tag18.xml"/><Relationship Id="rId10" Type="http://schemas.openxmlformats.org/officeDocument/2006/relationships/tags" Target="../tags/tag19.xml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9.xml"/><Relationship Id="rId13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517210"/>
          </a:xfrm>
          <a:prstGeom prst="rect">
            <a:avLst/>
          </a:prstGeom>
          <a:solidFill>
            <a:srgbClr val="F0E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0" y="552839"/>
            <a:ext cx="12192000" cy="67886"/>
          </a:xfrm>
          <a:prstGeom prst="rect">
            <a:avLst/>
          </a:prstGeom>
          <a:solidFill>
            <a:srgbClr val="E5C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90204" pitchFamily="34" charset="0"/>
            </a:endParaRPr>
          </a:p>
        </p:txBody>
      </p:sp>
      <p:sp>
        <p:nvSpPr>
          <p:cNvPr id="66" name="Rectangle 2"/>
          <p:cNvSpPr txBox="1">
            <a:spLocks noChangeArrowheads="1"/>
          </p:cNvSpPr>
          <p:nvPr/>
        </p:nvSpPr>
        <p:spPr bwMode="auto">
          <a:xfrm>
            <a:off x="2218623" y="1452612"/>
            <a:ext cx="7632834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>
              <a:spcAft>
                <a:spcPts val="200"/>
              </a:spcAft>
              <a:buNone/>
            </a:pPr>
            <a:r>
              <a:rPr kumimoji="0" lang="zh-CN" altLang="en-US" sz="3400" b="1" dirty="0">
                <a:solidFill>
                  <a:srgbClr val="AA53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污染场地土壤生态-生产功能重构</a:t>
            </a:r>
            <a:endParaRPr lang="zh-CN" sz="3400"/>
          </a:p>
          <a:p>
            <a:pPr marL="0" indent="0" algn="ctr">
              <a:spcAft>
                <a:spcPts val="200"/>
              </a:spcAft>
              <a:buNone/>
            </a:pPr>
            <a:r>
              <a:rPr kumimoji="0" lang="zh-CN" altLang="en-US" sz="3400" b="1" dirty="0">
                <a:solidFill>
                  <a:srgbClr val="AA53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监管系统（SRS）课题成果汇报</a:t>
            </a:r>
            <a:endParaRPr lang="zh-CN" sz="3400"/>
          </a:p>
        </p:txBody>
      </p:sp>
      <p:grpSp>
        <p:nvGrpSpPr>
          <p:cNvPr id="2" name="组合 1"/>
          <p:cNvGrpSpPr/>
          <p:nvPr/>
        </p:nvGrpSpPr>
        <p:grpSpPr>
          <a:xfrm>
            <a:off x="0" y="4520852"/>
            <a:ext cx="12192000" cy="2337149"/>
            <a:chOff x="0" y="4520852"/>
            <a:chExt cx="12192000" cy="2337149"/>
          </a:xfrm>
        </p:grpSpPr>
        <p:grpSp>
          <p:nvGrpSpPr>
            <p:cNvPr id="57" name="组合 56"/>
            <p:cNvGrpSpPr/>
            <p:nvPr/>
          </p:nvGrpSpPr>
          <p:grpSpPr>
            <a:xfrm>
              <a:off x="0" y="5270823"/>
              <a:ext cx="12192000" cy="1587178"/>
              <a:chOff x="0" y="5178065"/>
              <a:chExt cx="9144000" cy="1587178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27" b="39827"/>
              <a:stretch>
                <a:fillRect/>
              </a:stretch>
            </p:blipFill>
            <p:spPr>
              <a:xfrm>
                <a:off x="2717750" y="5893615"/>
                <a:ext cx="6426250" cy="871628"/>
              </a:xfrm>
              <a:custGeom>
                <a:avLst/>
                <a:gdLst>
                  <a:gd name="connsiteX0" fmla="*/ 3480998 w 6426250"/>
                  <a:gd name="connsiteY0" fmla="*/ 0 h 871628"/>
                  <a:gd name="connsiteX1" fmla="*/ 6061594 w 6426250"/>
                  <a:gd name="connsiteY1" fmla="*/ 340134 h 871628"/>
                  <a:gd name="connsiteX2" fmla="*/ 6426250 w 6426250"/>
                  <a:gd name="connsiteY2" fmla="*/ 378867 h 871628"/>
                  <a:gd name="connsiteX3" fmla="*/ 6426250 w 6426250"/>
                  <a:gd name="connsiteY3" fmla="*/ 583791 h 871628"/>
                  <a:gd name="connsiteX4" fmla="*/ 6374065 w 6426250"/>
                  <a:gd name="connsiteY4" fmla="*/ 591507 h 871628"/>
                  <a:gd name="connsiteX5" fmla="*/ 3142307 w 6426250"/>
                  <a:gd name="connsiteY5" fmla="*/ 862123 h 871628"/>
                  <a:gd name="connsiteX6" fmla="*/ 0 w 6426250"/>
                  <a:gd name="connsiteY6" fmla="*/ 699621 h 871628"/>
                  <a:gd name="connsiteX7" fmla="*/ 3480998 w 6426250"/>
                  <a:gd name="connsiteY7" fmla="*/ 0 h 87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8">
                    <a:moveTo>
                      <a:pt x="3480998" y="0"/>
                    </a:moveTo>
                    <a:cubicBezTo>
                      <a:pt x="3904363" y="74410"/>
                      <a:pt x="4921399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7"/>
                    </a:lnTo>
                    <a:cubicBezTo>
                      <a:pt x="5466640" y="717794"/>
                      <a:pt x="4390588" y="819787"/>
                      <a:pt x="3142307" y="862123"/>
                    </a:cubicBezTo>
                    <a:cubicBezTo>
                      <a:pt x="2105706" y="898045"/>
                      <a:pt x="1034893" y="829623"/>
                      <a:pt x="0" y="699621"/>
                    </a:cubicBezTo>
                    <a:cubicBezTo>
                      <a:pt x="1173448" y="547380"/>
                      <a:pt x="2334921" y="282244"/>
                      <a:pt x="3480998" y="0"/>
                    </a:cubicBezTo>
                    <a:close/>
                  </a:path>
                </a:pathLst>
              </a:cu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485" b="37485"/>
              <a:stretch>
                <a:fillRect/>
              </a:stretch>
            </p:blipFill>
            <p:spPr>
              <a:xfrm>
                <a:off x="0" y="5539050"/>
                <a:ext cx="6114925" cy="1020406"/>
              </a:xfrm>
              <a:custGeom>
                <a:avLst/>
                <a:gdLst>
                  <a:gd name="connsiteX0" fmla="*/ 171656 w 6114925"/>
                  <a:gd name="connsiteY0" fmla="*/ 2195 h 1020406"/>
                  <a:gd name="connsiteX1" fmla="*/ 884025 w 6114925"/>
                  <a:gd name="connsiteY1" fmla="*/ 2623 h 1020406"/>
                  <a:gd name="connsiteX2" fmla="*/ 6111508 w 6114925"/>
                  <a:gd name="connsiteY2" fmla="*/ 322496 h 1020406"/>
                  <a:gd name="connsiteX3" fmla="*/ 6114925 w 6114925"/>
                  <a:gd name="connsiteY3" fmla="*/ 324206 h 1020406"/>
                  <a:gd name="connsiteX4" fmla="*/ 6114925 w 6114925"/>
                  <a:gd name="connsiteY4" fmla="*/ 324209 h 1020406"/>
                  <a:gd name="connsiteX5" fmla="*/ 5240162 w 6114925"/>
                  <a:gd name="connsiteY5" fmla="*/ 532816 h 1020406"/>
                  <a:gd name="connsiteX6" fmla="*/ 2580905 w 6114925"/>
                  <a:gd name="connsiteY6" fmla="*/ 1020406 h 1020406"/>
                  <a:gd name="connsiteX7" fmla="*/ 172860 w 6114925"/>
                  <a:gd name="connsiteY7" fmla="*/ 599822 h 1020406"/>
                  <a:gd name="connsiteX8" fmla="*/ 0 w 6114925"/>
                  <a:gd name="connsiteY8" fmla="*/ 561030 h 1020406"/>
                  <a:gd name="connsiteX9" fmla="*/ 0 w 6114925"/>
                  <a:gd name="connsiteY9" fmla="*/ 5975 h 1020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14925" h="1020406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3"/>
                    </a:cubicBezTo>
                    <a:cubicBezTo>
                      <a:pt x="2639064" y="29992"/>
                      <a:pt x="5362279" y="177099"/>
                      <a:pt x="6111508" y="322496"/>
                    </a:cubicBezTo>
                    <a:lnTo>
                      <a:pt x="6114925" y="324206"/>
                    </a:lnTo>
                    <a:lnTo>
                      <a:pt x="6114925" y="324209"/>
                    </a:lnTo>
                    <a:lnTo>
                      <a:pt x="5240162" y="532816"/>
                    </a:lnTo>
                    <a:cubicBezTo>
                      <a:pt x="4361922" y="734315"/>
                      <a:pt x="3473819" y="910075"/>
                      <a:pt x="2580905" y="1020406"/>
                    </a:cubicBezTo>
                    <a:cubicBezTo>
                      <a:pt x="1739308" y="910075"/>
                      <a:pt x="923797" y="761684"/>
                      <a:pt x="172860" y="599822"/>
                    </a:cubicBezTo>
                    <a:lnTo>
                      <a:pt x="0" y="561030"/>
                    </a:lnTo>
                    <a:lnTo>
                      <a:pt x="0" y="5975"/>
                    </a:lnTo>
                    <a:close/>
                  </a:path>
                </a:pathLst>
              </a:cu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 rotWithShape="1">
              <a:blip r:embed="rId5"/>
              <a:srcRect t="46204" r="56080" b="28797"/>
              <a:stretch>
                <a:fillRect/>
              </a:stretch>
            </p:blipFill>
            <p:spPr>
              <a:xfrm>
                <a:off x="6280850" y="5178065"/>
                <a:ext cx="2863150" cy="1062527"/>
              </a:xfrm>
              <a:custGeom>
                <a:avLst/>
                <a:gdLst>
                  <a:gd name="connsiteX0" fmla="*/ 2863150 w 2863150"/>
                  <a:gd name="connsiteY0" fmla="*/ 0 h 1062527"/>
                  <a:gd name="connsiteX1" fmla="*/ 2863150 w 2863150"/>
                  <a:gd name="connsiteY1" fmla="*/ 1062527 h 1062527"/>
                  <a:gd name="connsiteX2" fmla="*/ 2641939 w 2863150"/>
                  <a:gd name="connsiteY2" fmla="*/ 1039514 h 1062527"/>
                  <a:gd name="connsiteX3" fmla="*/ 0 w 2863150"/>
                  <a:gd name="connsiteY3" fmla="*/ 696734 h 1062527"/>
                  <a:gd name="connsiteX4" fmla="*/ 766332 w 2863150"/>
                  <a:gd name="connsiteY4" fmla="*/ 505151 h 1062527"/>
                  <a:gd name="connsiteX5" fmla="*/ 2247787 w 2863150"/>
                  <a:gd name="connsiteY5" fmla="*/ 140081 h 1062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7">
                    <a:moveTo>
                      <a:pt x="2863150" y="0"/>
                    </a:moveTo>
                    <a:lnTo>
                      <a:pt x="2863150" y="1062527"/>
                    </a:lnTo>
                    <a:lnTo>
                      <a:pt x="2641939" y="1039514"/>
                    </a:lnTo>
                    <a:cubicBezTo>
                      <a:pt x="1511605" y="917075"/>
                      <a:pt x="481097" y="777557"/>
                      <a:pt x="0" y="696734"/>
                    </a:cubicBezTo>
                    <a:cubicBezTo>
                      <a:pt x="256585" y="633443"/>
                      <a:pt x="511460" y="568442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 rotWithShape="1">
              <a:blip r:embed="rId6"/>
              <a:srcRect l="59814" t="13627" r="115" b="71284"/>
              <a:stretch>
                <a:fillRect/>
              </a:stretch>
            </p:blipFill>
            <p:spPr>
              <a:xfrm>
                <a:off x="0" y="6153207"/>
                <a:ext cx="2449192" cy="543194"/>
              </a:xfrm>
              <a:custGeom>
                <a:avLst/>
                <a:gdLst>
                  <a:gd name="connsiteX0" fmla="*/ 0 w 2449192"/>
                  <a:gd name="connsiteY0" fmla="*/ 0 h 543194"/>
                  <a:gd name="connsiteX1" fmla="*/ 88617 w 2449192"/>
                  <a:gd name="connsiteY1" fmla="*/ 19816 h 543194"/>
                  <a:gd name="connsiteX2" fmla="*/ 2449192 w 2449192"/>
                  <a:gd name="connsiteY2" fmla="*/ 440027 h 543194"/>
                  <a:gd name="connsiteX3" fmla="*/ 410201 w 2449192"/>
                  <a:gd name="connsiteY3" fmla="*/ 539239 h 543194"/>
                  <a:gd name="connsiteX4" fmla="*/ 370857 w 2449192"/>
                  <a:gd name="connsiteY4" fmla="*/ 539239 h 543194"/>
                  <a:gd name="connsiteX5" fmla="*/ 136870 w 2449192"/>
                  <a:gd name="connsiteY5" fmla="*/ 535322 h 543194"/>
                  <a:gd name="connsiteX6" fmla="*/ 0 w 2449192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2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2" y="440027"/>
                    </a:cubicBezTo>
                    <a:cubicBezTo>
                      <a:pt x="1771809" y="517002"/>
                      <a:pt x="1092715" y="556345"/>
                      <a:pt x="410201" y="539239"/>
                    </a:cubicBezTo>
                    <a:cubicBezTo>
                      <a:pt x="396516" y="539239"/>
                      <a:pt x="384542" y="539239"/>
                      <a:pt x="370857" y="539239"/>
                    </a:cubicBezTo>
                    <a:cubicBezTo>
                      <a:pt x="294951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</p:spPr>
          </p:pic>
          <p:sp>
            <p:nvSpPr>
              <p:cNvPr id="62" name="任意多边形: 形状 61"/>
              <p:cNvSpPr/>
              <p:nvPr/>
            </p:nvSpPr>
            <p:spPr>
              <a:xfrm>
                <a:off x="6280850" y="5178065"/>
                <a:ext cx="2863150" cy="1062526"/>
              </a:xfrm>
              <a:custGeom>
                <a:avLst/>
                <a:gdLst>
                  <a:gd name="connsiteX0" fmla="*/ 2863150 w 2863150"/>
                  <a:gd name="connsiteY0" fmla="*/ 0 h 1062526"/>
                  <a:gd name="connsiteX1" fmla="*/ 2863150 w 2863150"/>
                  <a:gd name="connsiteY1" fmla="*/ 1062526 h 1062526"/>
                  <a:gd name="connsiteX2" fmla="*/ 2641939 w 2863150"/>
                  <a:gd name="connsiteY2" fmla="*/ 1039513 h 1062526"/>
                  <a:gd name="connsiteX3" fmla="*/ 0 w 2863150"/>
                  <a:gd name="connsiteY3" fmla="*/ 696734 h 1062526"/>
                  <a:gd name="connsiteX4" fmla="*/ 766332 w 2863150"/>
                  <a:gd name="connsiteY4" fmla="*/ 505151 h 1062526"/>
                  <a:gd name="connsiteX5" fmla="*/ 2247787 w 2863150"/>
                  <a:gd name="connsiteY5" fmla="*/ 140081 h 106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6">
                    <a:moveTo>
                      <a:pt x="2863150" y="0"/>
                    </a:moveTo>
                    <a:lnTo>
                      <a:pt x="2863150" y="1062526"/>
                    </a:lnTo>
                    <a:lnTo>
                      <a:pt x="2641939" y="1039513"/>
                    </a:lnTo>
                    <a:cubicBezTo>
                      <a:pt x="1511604" y="917074"/>
                      <a:pt x="481097" y="777557"/>
                      <a:pt x="0" y="696734"/>
                    </a:cubicBezTo>
                    <a:cubicBezTo>
                      <a:pt x="256585" y="633442"/>
                      <a:pt x="511459" y="568441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  <a:solidFill>
                <a:srgbClr val="A850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709333" y="5893616"/>
                <a:ext cx="6426250" cy="871627"/>
              </a:xfrm>
              <a:custGeom>
                <a:avLst/>
                <a:gdLst>
                  <a:gd name="connsiteX0" fmla="*/ 3480997 w 6426250"/>
                  <a:gd name="connsiteY0" fmla="*/ 0 h 871627"/>
                  <a:gd name="connsiteX1" fmla="*/ 6061594 w 6426250"/>
                  <a:gd name="connsiteY1" fmla="*/ 340134 h 871627"/>
                  <a:gd name="connsiteX2" fmla="*/ 6426250 w 6426250"/>
                  <a:gd name="connsiteY2" fmla="*/ 378867 h 871627"/>
                  <a:gd name="connsiteX3" fmla="*/ 6426250 w 6426250"/>
                  <a:gd name="connsiteY3" fmla="*/ 583791 h 871627"/>
                  <a:gd name="connsiteX4" fmla="*/ 6374065 w 6426250"/>
                  <a:gd name="connsiteY4" fmla="*/ 591506 h 871627"/>
                  <a:gd name="connsiteX5" fmla="*/ 3142305 w 6426250"/>
                  <a:gd name="connsiteY5" fmla="*/ 862122 h 871627"/>
                  <a:gd name="connsiteX6" fmla="*/ 0 w 6426250"/>
                  <a:gd name="connsiteY6" fmla="*/ 699619 h 871627"/>
                  <a:gd name="connsiteX7" fmla="*/ 3480997 w 6426250"/>
                  <a:gd name="connsiteY7" fmla="*/ 0 h 87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7">
                    <a:moveTo>
                      <a:pt x="3480997" y="0"/>
                    </a:moveTo>
                    <a:cubicBezTo>
                      <a:pt x="3904361" y="74410"/>
                      <a:pt x="4921397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6"/>
                    </a:lnTo>
                    <a:cubicBezTo>
                      <a:pt x="5466639" y="717794"/>
                      <a:pt x="4390588" y="819786"/>
                      <a:pt x="3142305" y="862122"/>
                    </a:cubicBezTo>
                    <a:cubicBezTo>
                      <a:pt x="2105704" y="898044"/>
                      <a:pt x="1034892" y="829622"/>
                      <a:pt x="0" y="699619"/>
                    </a:cubicBezTo>
                    <a:cubicBezTo>
                      <a:pt x="1173447" y="547379"/>
                      <a:pt x="2334919" y="282243"/>
                      <a:pt x="3480997" y="0"/>
                    </a:cubicBezTo>
                    <a:close/>
                  </a:path>
                </a:pathLst>
              </a:custGeom>
              <a:solidFill>
                <a:srgbClr val="C58C23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0" y="6153206"/>
                <a:ext cx="2449191" cy="543194"/>
              </a:xfrm>
              <a:custGeom>
                <a:avLst/>
                <a:gdLst>
                  <a:gd name="connsiteX0" fmla="*/ 0 w 2449191"/>
                  <a:gd name="connsiteY0" fmla="*/ 0 h 543194"/>
                  <a:gd name="connsiteX1" fmla="*/ 88617 w 2449191"/>
                  <a:gd name="connsiteY1" fmla="*/ 19816 h 543194"/>
                  <a:gd name="connsiteX2" fmla="*/ 2449191 w 2449191"/>
                  <a:gd name="connsiteY2" fmla="*/ 440026 h 543194"/>
                  <a:gd name="connsiteX3" fmla="*/ 410200 w 2449191"/>
                  <a:gd name="connsiteY3" fmla="*/ 539239 h 543194"/>
                  <a:gd name="connsiteX4" fmla="*/ 370856 w 2449191"/>
                  <a:gd name="connsiteY4" fmla="*/ 539239 h 543194"/>
                  <a:gd name="connsiteX5" fmla="*/ 136870 w 2449191"/>
                  <a:gd name="connsiteY5" fmla="*/ 535322 h 543194"/>
                  <a:gd name="connsiteX6" fmla="*/ 0 w 2449191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1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1" y="440026"/>
                    </a:cubicBezTo>
                    <a:cubicBezTo>
                      <a:pt x="1771808" y="517002"/>
                      <a:pt x="1092714" y="556344"/>
                      <a:pt x="410200" y="539239"/>
                    </a:cubicBezTo>
                    <a:cubicBezTo>
                      <a:pt x="396516" y="539239"/>
                      <a:pt x="384541" y="539239"/>
                      <a:pt x="370856" y="539239"/>
                    </a:cubicBezTo>
                    <a:cubicBezTo>
                      <a:pt x="294950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  <a:solidFill>
                <a:srgbClr val="C58C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8414" y="5535674"/>
                <a:ext cx="6114928" cy="1020405"/>
              </a:xfrm>
              <a:custGeom>
                <a:avLst/>
                <a:gdLst>
                  <a:gd name="connsiteX0" fmla="*/ 171656 w 6114928"/>
                  <a:gd name="connsiteY0" fmla="*/ 2195 h 1020405"/>
                  <a:gd name="connsiteX1" fmla="*/ 884025 w 6114928"/>
                  <a:gd name="connsiteY1" fmla="*/ 2622 h 1020405"/>
                  <a:gd name="connsiteX2" fmla="*/ 6111507 w 6114928"/>
                  <a:gd name="connsiteY2" fmla="*/ 322496 h 1020405"/>
                  <a:gd name="connsiteX3" fmla="*/ 6114928 w 6114928"/>
                  <a:gd name="connsiteY3" fmla="*/ 324207 h 1020405"/>
                  <a:gd name="connsiteX4" fmla="*/ 2580905 w 6114928"/>
                  <a:gd name="connsiteY4" fmla="*/ 1020405 h 1020405"/>
                  <a:gd name="connsiteX5" fmla="*/ 172860 w 6114928"/>
                  <a:gd name="connsiteY5" fmla="*/ 599821 h 1020405"/>
                  <a:gd name="connsiteX6" fmla="*/ 0 w 6114928"/>
                  <a:gd name="connsiteY6" fmla="*/ 561029 h 1020405"/>
                  <a:gd name="connsiteX7" fmla="*/ 0 w 6114928"/>
                  <a:gd name="connsiteY7" fmla="*/ 6492 h 102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14928" h="1020405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2"/>
                    </a:cubicBezTo>
                    <a:cubicBezTo>
                      <a:pt x="2639064" y="29991"/>
                      <a:pt x="5362279" y="177099"/>
                      <a:pt x="6111507" y="322496"/>
                    </a:cubicBezTo>
                    <a:cubicBezTo>
                      <a:pt x="6113217" y="324207"/>
                      <a:pt x="6114928" y="324207"/>
                      <a:pt x="6114928" y="324207"/>
                    </a:cubicBezTo>
                    <a:cubicBezTo>
                      <a:pt x="4953455" y="609871"/>
                      <a:pt x="3771457" y="873297"/>
                      <a:pt x="2580905" y="1020405"/>
                    </a:cubicBezTo>
                    <a:cubicBezTo>
                      <a:pt x="1739308" y="910074"/>
                      <a:pt x="923797" y="761683"/>
                      <a:pt x="172860" y="599821"/>
                    </a:cubicBezTo>
                    <a:lnTo>
                      <a:pt x="0" y="561029"/>
                    </a:lnTo>
                    <a:lnTo>
                      <a:pt x="0" y="6492"/>
                    </a:lnTo>
                    <a:close/>
                  </a:path>
                </a:pathLst>
              </a:custGeom>
              <a:solidFill>
                <a:srgbClr val="A8502A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90204" pitchFamily="34" charset="0"/>
                </a:endParaRPr>
              </a:p>
            </p:txBody>
          </p:sp>
        </p:grpSp>
        <p:sp>
          <p:nvSpPr>
            <p:cNvPr id="70" name="矩形: 圆角 69"/>
            <p:cNvSpPr/>
            <p:nvPr/>
          </p:nvSpPr>
          <p:spPr>
            <a:xfrm rot="5400000">
              <a:off x="5287804" y="-34975"/>
              <a:ext cx="1616392" cy="1216955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6000">
                  <a:srgbClr val="FFFFFF">
                    <a:alpha val="70000"/>
                  </a:srgbClr>
                </a:gs>
                <a:gs pos="0">
                  <a:schemeClr val="bg1"/>
                </a:gs>
                <a:gs pos="98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 rot="5400000">
              <a:off x="4927426" y="-406574"/>
              <a:ext cx="2337148" cy="12192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2000">
                  <a:srgbClr val="FFFFFF">
                    <a:alpha val="70000"/>
                  </a:srgbClr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90204" pitchFamily="34" charset="0"/>
              </a:endParaRPr>
            </a:p>
          </p:txBody>
        </p:sp>
      </p:grp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01033" y="59539"/>
            <a:ext cx="69200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indent="0" algn="l">
              <a:spcAft>
                <a:spcPts val="200"/>
              </a:spcAft>
              <a:buNone/>
            </a:pPr>
            <a:r>
              <a:rPr kumimoji="0" lang="zh-CN" altLang="en-US" sz="2300" b="1" dirty="0">
                <a:solidFill>
                  <a:srgbClr val="C8663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课题研究与系统建设成果</a:t>
            </a:r>
            <a:endParaRPr lang="zh-CN" sz="2300" dirty="0"/>
          </a:p>
        </p:txBody>
      </p:sp>
      <p:sp>
        <p:nvSpPr>
          <p:cNvPr id="8" name="矩形: 圆角 7"/>
          <p:cNvSpPr/>
          <p:nvPr/>
        </p:nvSpPr>
        <p:spPr>
          <a:xfrm rot="5400000">
            <a:off x="5103709" y="-219068"/>
            <a:ext cx="1962135" cy="1219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rgbClr val="FFFFFF">
                  <a:alpha val="70000"/>
                </a:srgbClr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cap="flat" cmpd="sng" algn="ctr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9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1" name="汇报信息"/>
          <p:cNvSpPr txBox="1"/>
          <p:nvPr/>
        </p:nvSpPr>
        <p:spPr>
          <a:xfrm>
            <a:off x="1767840" y="4461510"/>
            <a:ext cx="85039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800" b="0" i="0" dirty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研究方法集成与典型场景应用</a:t>
            </a:r>
            <a:endParaRPr lang="zh-CN" sz="18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800" b="0" i="0" dirty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2026 年 10 月 · 软件 v1.2.2（收尾候选版，待甲方验收）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一、课题背景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研究背景与课题任务</a:t>
            </a:r>
            <a:endParaRPr lang="zh-CN" sz="1900"/>
          </a:p>
        </p:txBody>
      </p:sp>
      <p:sp>
        <p:nvSpPr>
          <p:cNvPr id="202" name="背景标题"/>
          <p:cNvSpPr>
            <a:spLocks noGrp="1"/>
          </p:cNvSpPr>
          <p:nvPr/>
        </p:nvSpPr>
        <p:spPr>
          <a:xfrm>
            <a:off x="804672" y="1481328"/>
            <a:ext cx="6949440" cy="384048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研究背景</a:t>
            </a:r>
          </a:p>
        </p:txBody>
      </p:sp>
      <p:sp>
        <p:nvSpPr>
          <p:cNvPr id="203" name="背景正文"/>
          <p:cNvSpPr>
            <a:spLocks noGrp="1"/>
          </p:cNvSpPr>
          <p:nvPr/>
        </p:nvSpPr>
        <p:spPr>
          <a:xfrm>
            <a:off x="850392" y="1938528"/>
            <a:ext cx="6830568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6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6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lang="zh-CN" altLang="en-US" sz="16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本课题从污染场地实际数据出发，识别关键障碍、评价生态—生产功能，形成利用方案建议，并提供全过程监管支撑</a:t>
            </a:r>
            <a:r>
              <a:rPr sz="16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。</a:t>
            </a:r>
          </a:p>
        </p:txBody>
      </p:sp>
      <p:sp>
        <p:nvSpPr>
          <p:cNvPr id="204" name="任务标题"/>
          <p:cNvSpPr>
            <a:spLocks noGrp="1"/>
          </p:cNvSpPr>
          <p:nvPr/>
        </p:nvSpPr>
        <p:spPr>
          <a:xfrm>
            <a:off x="804672" y="3063240"/>
            <a:ext cx="6949440" cy="384048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7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课题任务衔接</a:t>
            </a:r>
          </a:p>
        </p:txBody>
      </p:sp>
      <p:sp>
        <p:nvSpPr>
          <p:cNvPr id="205" name="修复前标签"/>
          <p:cNvSpPr>
            <a:spLocks noGrp="1"/>
          </p:cNvSpPr>
          <p:nvPr/>
        </p:nvSpPr>
        <p:spPr>
          <a:xfrm>
            <a:off x="850392" y="3611880"/>
            <a:ext cx="2148840" cy="548640"/>
          </a:xfrm>
          <a:prstGeom prst="rect">
            <a:avLst/>
          </a:prstGeom>
          <a:solidFill>
            <a:srgbClr val="A8502A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lang="zh-CN" sz="1500" b="1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子</a:t>
            </a:r>
            <a:r>
              <a:rPr sz="1500" b="1" dirty="0" err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课题一、二：修复前</a:t>
            </a:r>
            <a:endParaRPr sz="1500" b="1" dirty="0">
              <a:solidFill>
                <a:srgbClr val="FFFFFF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06" name="修复前解释"/>
          <p:cNvSpPr>
            <a:spLocks noGrp="1"/>
          </p:cNvSpPr>
          <p:nvPr/>
        </p:nvSpPr>
        <p:spPr>
          <a:xfrm>
            <a:off x="3127248" y="3602736"/>
            <a:ext cx="4507992" cy="8321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400" b="0" dirty="0" err="1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检测数据与用途参照</a:t>
            </a:r>
            <a:endParaRPr sz="1400" b="0" dirty="0">
              <a:solidFill>
                <a:srgbClr val="262626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  <a:p>
            <a: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400" b="0" dirty="0" err="1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识别关键障碍，分析生产与生态功能限制</a:t>
            </a:r>
            <a:endParaRPr sz="1400" b="0" dirty="0">
              <a:solidFill>
                <a:srgbClr val="262626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07" name="修复后标签"/>
          <p:cNvSpPr>
            <a:spLocks noGrp="1"/>
          </p:cNvSpPr>
          <p:nvPr/>
        </p:nvSpPr>
        <p:spPr>
          <a:xfrm>
            <a:off x="850392" y="4599432"/>
            <a:ext cx="2148840" cy="548640"/>
          </a:xfrm>
          <a:prstGeom prst="rect">
            <a:avLst/>
          </a:prstGeom>
          <a:solidFill>
            <a:srgbClr val="C58C23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lang="zh-CN" sz="1500" b="1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子</a:t>
            </a:r>
            <a:r>
              <a:rPr sz="1500" b="1" dirty="0" err="1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课题三：修复后</a:t>
            </a:r>
            <a:endParaRPr sz="1500" b="1" dirty="0">
              <a:solidFill>
                <a:srgbClr val="FFFFFF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08" name="修复后解释"/>
          <p:cNvSpPr>
            <a:spLocks noGrp="1"/>
          </p:cNvSpPr>
          <p:nvPr/>
        </p:nvSpPr>
        <p:spPr>
          <a:xfrm>
            <a:off x="3127248" y="4562856"/>
            <a:ext cx="4507992" cy="8503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400" b="0" dirty="0" err="1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修复后检测与经济数据</a:t>
            </a:r>
            <a:endParaRPr sz="1400" b="0" dirty="0">
              <a:solidFill>
                <a:srgbClr val="262626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  <a:p>
            <a: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400" b="0" dirty="0" err="1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评价安全性、经济性与持续利用条件</a:t>
            </a:r>
            <a:endParaRPr sz="1400" b="0" dirty="0">
              <a:solidFill>
                <a:srgbClr val="262626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09" name="问题标题"/>
          <p:cNvSpPr>
            <a:spLocks noGrp="1"/>
          </p:cNvSpPr>
          <p:nvPr/>
        </p:nvSpPr>
        <p:spPr>
          <a:xfrm>
            <a:off x="7982712" y="1481328"/>
            <a:ext cx="3364992" cy="384048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需要回答的应用问题</a:t>
            </a:r>
          </a:p>
        </p:txBody>
      </p:sp>
      <p:sp>
        <p:nvSpPr>
          <p:cNvPr id="210" name="问题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74152" y="1965960"/>
            <a:ext cx="3136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  限制在哪里</a:t>
            </a:r>
          </a:p>
        </p:txBody>
      </p:sp>
      <p:sp>
        <p:nvSpPr>
          <p:cNvPr id="211" name="问题解释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74152" y="2322576"/>
            <a:ext cx="3136392" cy="429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哪些污染物或土壤条件限制目标用途？</a:t>
            </a:r>
          </a:p>
        </p:txBody>
      </p:sp>
      <p:sp>
        <p:nvSpPr>
          <p:cNvPr id="212" name="问题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074152" y="2798064"/>
            <a:ext cx="3136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  用途如何判断</a:t>
            </a:r>
          </a:p>
        </p:txBody>
      </p:sp>
      <p:sp>
        <p:nvSpPr>
          <p:cNvPr id="213" name="问题解释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074152" y="3154680"/>
            <a:ext cx="3136392" cy="429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生产与生态两类任务分别依据哪些指标？</a:t>
            </a:r>
          </a:p>
        </p:txBody>
      </p:sp>
      <p:sp>
        <p:nvSpPr>
          <p:cNvPr id="214" name="问题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74152" y="3630168"/>
            <a:ext cx="3136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  利用是否持续</a:t>
            </a:r>
          </a:p>
        </p:txBody>
      </p:sp>
      <p:sp>
        <p:nvSpPr>
          <p:cNvPr id="215" name="问题解释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074152" y="3986784"/>
            <a:ext cx="3136392" cy="429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修复后的安全与经济条件如何共同评价？</a:t>
            </a:r>
          </a:p>
        </p:txBody>
      </p:sp>
      <p:sp>
        <p:nvSpPr>
          <p:cNvPr id="216" name="问题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074152" y="4462272"/>
            <a:ext cx="3136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5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  依据怎样追溯</a:t>
            </a:r>
          </a:p>
        </p:txBody>
      </p:sp>
      <p:sp>
        <p:nvSpPr>
          <p:cNvPr id="217" name="问题解释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074152" y="4818888"/>
            <a:ext cx="3136392" cy="429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25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结论如何关联检测数据、方法参数和材料？</a:t>
            </a:r>
          </a:p>
        </p:txBody>
      </p:sp>
      <p:sp>
        <p:nvSpPr>
          <p:cNvPr id="218" name="背景结语"/>
          <p:cNvSpPr>
            <a:spLocks noGrp="1"/>
          </p:cNvSpPr>
          <p:nvPr/>
        </p:nvSpPr>
        <p:spPr>
          <a:xfrm>
            <a:off x="804672" y="5660136"/>
            <a:ext cx="10543032" cy="777240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600" b="1" dirty="0" err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已完成系统集成：将场景数据、诊断评价方法和过程材料关联到同一场地，形成可解释、可复核的研究与管理工具</a:t>
            </a:r>
            <a:r>
              <a:rPr sz="1600" b="1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二、系统架构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总体架构：四层结构与场地数据关联</a:t>
            </a:r>
            <a:endParaRPr lang="zh-CN" sz="1900"/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896112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前端展示层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481328"/>
            <a:ext cx="37947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React + TypeScript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图表、矢量地图与卫星底图</a:t>
            </a:r>
            <a:endParaRPr lang="zh-CN" sz="1200"/>
          </a:p>
        </p:txBody>
      </p:sp>
      <p:sp>
        <p:nvSpPr>
          <p:cNvPr id="7" name="Rectangle 6"/>
          <p:cNvSpPr/>
          <p:nvPr/>
        </p:nvSpPr>
        <p:spPr>
          <a:xfrm>
            <a:off x="5943600" y="1481328"/>
            <a:ext cx="1143000" cy="896112"/>
          </a:xfrm>
          <a:prstGeom prst="rect">
            <a:avLst/>
          </a:prstGeom>
          <a:solidFill>
            <a:srgbClr val="FBF3E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11 个导航页面 · 数字大屏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1371600" cy="896112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后端服务层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468880"/>
            <a:ext cx="37947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FastAPI + 数据库服务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角色权限、业务接口与版本管理</a:t>
            </a:r>
            <a:endParaRPr lang="zh-CN" sz="1200"/>
          </a:p>
        </p:txBody>
      </p:sp>
      <p:sp>
        <p:nvSpPr>
          <p:cNvPr id="10" name="Rectangle 9"/>
          <p:cNvSpPr/>
          <p:nvPr/>
        </p:nvSpPr>
        <p:spPr>
          <a:xfrm>
            <a:off x="5943600" y="2468880"/>
            <a:ext cx="1143000" cy="896112"/>
          </a:xfrm>
          <a:prstGeom prst="rect">
            <a:avLst/>
          </a:prstGeom>
          <a:solidFill>
            <a:srgbClr val="FBF3E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123 个接口 · 108 个路径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371600" cy="896112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算法引擎层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456432"/>
            <a:ext cx="37947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KOS规则与排序，随机森林和SHAP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组合赋权、功能重构与SSUI</a:t>
            </a:r>
            <a:endParaRPr lang="zh-CN" sz="1200"/>
          </a:p>
        </p:txBody>
      </p:sp>
      <p:sp>
        <p:nvSpPr>
          <p:cNvPr id="13" name="Rectangle 12"/>
          <p:cNvSpPr/>
          <p:nvPr/>
        </p:nvSpPr>
        <p:spPr>
          <a:xfrm>
            <a:off x="5943600" y="3456432"/>
            <a:ext cx="1143000" cy="896112"/>
          </a:xfrm>
          <a:prstGeom prst="rect">
            <a:avLst/>
          </a:prstGeom>
          <a:solidFill>
            <a:srgbClr val="FBF3E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 个启用模型 + 4 个探索模型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43984"/>
            <a:ext cx="1371600" cy="896112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数据存储层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4443984"/>
            <a:ext cx="37947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场地检测、计算结果与材料附件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桌面数据库与文件存储</a:t>
            </a:r>
            <a:endParaRPr lang="zh-CN" sz="1200"/>
          </a:p>
        </p:txBody>
      </p:sp>
      <p:sp>
        <p:nvSpPr>
          <p:cNvPr id="16" name="Rectangle 15"/>
          <p:cNvSpPr/>
          <p:nvPr/>
        </p:nvSpPr>
        <p:spPr>
          <a:xfrm>
            <a:off x="5943600" y="4443984"/>
            <a:ext cx="1143000" cy="896112"/>
          </a:xfrm>
          <a:prstGeom prst="rect">
            <a:avLst/>
          </a:prstGeom>
          <a:solidFill>
            <a:srgbClr val="FBF3E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36 张数据表 · AES-256-GCM 字段加密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63093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已形成Windows软件打包、启动检查与配套文档。</a:t>
            </a:r>
            <a:endParaRPr lang="zh-CN" sz="125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架构将研究计算与数据管理分开，便于维护方法参数、输入版本和结果解释。</a:t>
            </a:r>
            <a:endParaRPr lang="zh-CN" sz="1250"/>
          </a:p>
        </p:txBody>
      </p:sp>
      <p:sp>
        <p:nvSpPr>
          <p:cNvPr id="18" name="面板-核心数据关系（业务表）"/>
          <p:cNvSpPr/>
          <p:nvPr/>
        </p:nvSpPr>
        <p:spPr>
          <a:xfrm>
            <a:off x="7315200" y="1481328"/>
            <a:ext cx="41148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9" name="面板标题-核心数据关系（业务表）"/>
          <p:cNvSpPr/>
          <p:nvPr/>
        </p:nvSpPr>
        <p:spPr>
          <a:xfrm>
            <a:off x="7315200" y="1481328"/>
            <a:ext cx="411480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1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场地数据与结果关联</a:t>
            </a:r>
            <a:endParaRPr lang="zh-CN" sz="1200"/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2240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场地对象</a:t>
            </a:r>
            <a:endParaRPr lang="zh-CN" sz="1200"/>
          </a:p>
        </p:txBody>
      </p:sp>
      <p:cxnSp>
        <p:nvCxnSpPr>
          <p:cNvPr id="21" name="Connector 20"/>
          <p:cNvCxnSpPr/>
          <p:nvPr/>
        </p:nvCxnSpPr>
        <p:spPr>
          <a:xfrm>
            <a:off x="8663940" y="2286000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543800" y="2432304"/>
            <a:ext cx="2240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采样记录与土层</a:t>
            </a:r>
            <a:endParaRPr lang="zh-CN" sz="1200"/>
          </a:p>
        </p:txBody>
      </p:sp>
      <p:cxnSp>
        <p:nvCxnSpPr>
          <p:cNvPr id="23" name="Connector 22"/>
          <p:cNvCxnSpPr/>
          <p:nvPr/>
        </p:nvCxnSpPr>
        <p:spPr>
          <a:xfrm>
            <a:off x="8663940" y="2779776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43800" y="2926080"/>
            <a:ext cx="2240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检测指标与测值</a:t>
            </a:r>
            <a:endParaRPr lang="zh-CN" sz="1200"/>
          </a:p>
        </p:txBody>
      </p:sp>
      <p:cxnSp>
        <p:nvCxnSpPr>
          <p:cNvPr id="25" name="Connector 24"/>
          <p:cNvCxnSpPr/>
          <p:nvPr/>
        </p:nvCxnSpPr>
        <p:spPr>
          <a:xfrm>
            <a:off x="8663940" y="3273552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543800" y="3419856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障碍因子及诊断依据</a:t>
            </a:r>
            <a:endParaRPr lang="zh-CN" sz="1200"/>
          </a:p>
        </p:txBody>
      </p:sp>
      <p:cxnSp>
        <p:nvCxnSpPr>
          <p:cNvPr id="27" name="Connector 26"/>
          <p:cNvCxnSpPr/>
          <p:nvPr/>
        </p:nvCxnSpPr>
        <p:spPr>
          <a:xfrm>
            <a:off x="8663940" y="3877056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543800" y="4023360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功能重构与SSUI</a:t>
            </a:r>
            <a:endParaRPr lang="zh-CN" sz="12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输入版本、参数记录</a:t>
            </a:r>
            <a:endParaRPr lang="zh-CN" sz="1200"/>
          </a:p>
        </p:txBody>
      </p:sp>
      <p:cxnSp>
        <p:nvCxnSpPr>
          <p:cNvPr id="29" name="Connector 28"/>
          <p:cNvCxnSpPr/>
          <p:nvPr/>
        </p:nvCxnSpPr>
        <p:spPr>
          <a:xfrm>
            <a:off x="8663940" y="4480560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543800" y="4626864"/>
            <a:ext cx="2240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候选技术与匹配结果</a:t>
            </a:r>
            <a:endParaRPr lang="zh-CN" sz="1200"/>
          </a:p>
        </p:txBody>
      </p:sp>
      <p:cxnSp>
        <p:nvCxnSpPr>
          <p:cNvPr id="31" name="Connector 30"/>
          <p:cNvCxnSpPr/>
          <p:nvPr/>
        </p:nvCxnSpPr>
        <p:spPr>
          <a:xfrm>
            <a:off x="8663940" y="4974336"/>
            <a:ext cx="0" cy="146304"/>
          </a:xfrm>
          <a:prstGeom prst="line">
            <a:avLst/>
          </a:prstGeom>
          <a:ln w="15875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543800" y="5120640"/>
            <a:ext cx="2240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阶段材料与分析报告</a:t>
            </a:r>
            <a:endParaRPr lang="zh-CN" sz="1200"/>
          </a:p>
        </p:txBody>
      </p:sp>
      <p:sp>
        <p:nvSpPr>
          <p:cNvPr id="33" name="TextBox 32"/>
          <p:cNvSpPr txBox="1"/>
          <p:nvPr/>
        </p:nvSpPr>
        <p:spPr>
          <a:xfrm>
            <a:off x="9921240" y="1920240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1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研究计算支撑</a:t>
            </a:r>
            <a:endParaRPr lang="zh-CN" sz="1200"/>
          </a:p>
        </p:txBody>
      </p:sp>
      <p:sp>
        <p:nvSpPr>
          <p:cNvPr id="34" name="Rectangle 33"/>
          <p:cNvSpPr/>
          <p:nvPr/>
        </p:nvSpPr>
        <p:spPr>
          <a:xfrm>
            <a:off x="9921240" y="224028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指标字典</a:t>
            </a:r>
            <a:endParaRPr lang="zh-CN" sz="1200"/>
          </a:p>
        </p:txBody>
      </p:sp>
      <p:sp>
        <p:nvSpPr>
          <p:cNvPr id="35" name="Rectangle 34"/>
          <p:cNvSpPr/>
          <p:nvPr/>
        </p:nvSpPr>
        <p:spPr>
          <a:xfrm>
            <a:off x="9921240" y="278892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用途参照</a:t>
            </a:r>
            <a:endParaRPr lang="zh-CN" sz="1200"/>
          </a:p>
        </p:txBody>
      </p:sp>
      <p:sp>
        <p:nvSpPr>
          <p:cNvPr id="36" name="Rectangle 35"/>
          <p:cNvSpPr/>
          <p:nvPr/>
        </p:nvSpPr>
        <p:spPr>
          <a:xfrm>
            <a:off x="9921240" y="333756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阈值规则</a:t>
            </a:r>
            <a:endParaRPr lang="zh-CN" sz="1200"/>
          </a:p>
        </p:txBody>
      </p:sp>
      <p:sp>
        <p:nvSpPr>
          <p:cNvPr id="37" name="Rectangle 36"/>
          <p:cNvSpPr/>
          <p:nvPr/>
        </p:nvSpPr>
        <p:spPr>
          <a:xfrm>
            <a:off x="9921240" y="388620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模型工件</a:t>
            </a:r>
            <a:endParaRPr lang="zh-CN" sz="1200"/>
          </a:p>
        </p:txBody>
      </p:sp>
      <p:sp>
        <p:nvSpPr>
          <p:cNvPr id="38" name="Rectangle 37"/>
          <p:cNvSpPr/>
          <p:nvPr/>
        </p:nvSpPr>
        <p:spPr>
          <a:xfrm>
            <a:off x="9921240" y="443484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修复技术库</a:t>
            </a:r>
            <a:endParaRPr lang="zh-CN" sz="1200"/>
          </a:p>
        </p:txBody>
      </p:sp>
      <p:sp>
        <p:nvSpPr>
          <p:cNvPr id="39" name="Rectangle 38"/>
          <p:cNvSpPr/>
          <p:nvPr/>
        </p:nvSpPr>
        <p:spPr>
          <a:xfrm>
            <a:off x="9921240" y="498348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经济数据</a:t>
            </a:r>
            <a:endParaRPr lang="zh-CN" sz="1200"/>
          </a:p>
        </p:txBody>
      </p:sp>
      <p:sp>
        <p:nvSpPr>
          <p:cNvPr id="40" name="Rectangle 39"/>
          <p:cNvSpPr/>
          <p:nvPr/>
        </p:nvSpPr>
        <p:spPr>
          <a:xfrm>
            <a:off x="9921240" y="5532120"/>
            <a:ext cx="1371600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操作日志</a:t>
            </a:r>
            <a:endParaRPr lang="zh-CN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二、系统架构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业务模块：四类业务与系统入口</a:t>
            </a:r>
            <a:endParaRPr lang="zh-CN" sz="1900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500" b="1" i="0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四类业务与对应任务</a:t>
            </a:r>
            <a:endParaRPr lang="zh-CN" sz="1500"/>
          </a:p>
        </p:txBody>
      </p:sp>
      <p:sp>
        <p:nvSpPr>
          <p:cNvPr id="6" name="TextBox 5"/>
          <p:cNvSpPr txBox="1"/>
          <p:nvPr/>
        </p:nvSpPr>
        <p:spPr>
          <a:xfrm>
            <a:off x="6446520" y="1417320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500" b="1" i="0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系统入口与结果展示</a:t>
            </a:r>
            <a:endParaRPr lang="zh-CN" sz="1500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325880" cy="841248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  数据管理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755648"/>
            <a:ext cx="365760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5000"/>
              </a:lnSpc>
            </a:pPr>
            <a:r>
              <a:rPr lang="zh-CN" altLang="en-US" sz="11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录入/导入 · 存储归档 · 查询筛选 · 校验导出 · 场地地图 · 单/多场地统计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33872" y="2176272"/>
            <a:ext cx="54864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46520" y="1901952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数据概览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901952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场地管理（导入 / EDA / 地图）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901952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文件管理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15768"/>
            <a:ext cx="1325880" cy="841248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  决策管理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715768"/>
            <a:ext cx="365760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5000"/>
              </a:lnSpc>
            </a:pPr>
            <a:r>
              <a:rPr lang="zh-CN" altLang="en-US" sz="11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关键障碍因子识别 · 功能重构可行性评价 · 可持续利用评价 · 重构方案推荐（技术库）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33872" y="3136391"/>
            <a:ext cx="54864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46520" y="2862072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障碍因子分析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862072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功能重构分析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862072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SSUI 评价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2862072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方案推荐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675887"/>
            <a:ext cx="1325880" cy="841248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  全流程追溯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675887"/>
            <a:ext cx="365760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5000"/>
              </a:lnSpc>
            </a:pPr>
            <a:r>
              <a:rPr lang="zh-CN" altLang="en-US" sz="11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调查评估 → 方案审批 → 施工监理 → 效果评估 → 后期管护；一键生成单场地追溯报告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33872" y="4096511"/>
            <a:ext cx="54864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46520" y="3822191"/>
            <a:ext cx="4434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全流程追溯（五阶段记录 + PDF/DOCX 报告）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36007"/>
            <a:ext cx="1325880" cy="841248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  系统管理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636007"/>
            <a:ext cx="365760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5000"/>
              </a:lnSpc>
            </a:pPr>
            <a:r>
              <a:rPr lang="zh-CN" altLang="en-US" sz="11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四类用户权限（管理员/企业/第三方/监管）· 操作日志 · 加密存储 · 定期备份 · 登录安全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33872" y="5056631"/>
            <a:ext cx="54864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46520" y="4782312"/>
            <a:ext cx="4434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系统管理（RBAC 四角色 · 审计日志 · 字段加密 · 备份恢复）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23560"/>
            <a:ext cx="5486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课题任务与模块衔接</a:t>
            </a:r>
            <a:endParaRPr lang="zh-CN" sz="1400"/>
          </a:p>
        </p:txBody>
      </p:sp>
      <p:sp>
        <p:nvSpPr>
          <p:cNvPr id="29" name="Rounded Rectangle 28"/>
          <p:cNvSpPr/>
          <p:nvPr/>
        </p:nvSpPr>
        <p:spPr>
          <a:xfrm>
            <a:off x="777240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B7791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修复前</a:t>
            </a:r>
            <a:endParaRPr lang="zh-CN" sz="1050"/>
          </a:p>
        </p:txBody>
      </p:sp>
      <p:sp>
        <p:nvSpPr>
          <p:cNvPr id="30" name="Rounded Rectangle 29"/>
          <p:cNvSpPr/>
          <p:nvPr/>
        </p:nvSpPr>
        <p:spPr>
          <a:xfrm>
            <a:off x="1975104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障碍识别</a:t>
            </a:r>
            <a:endParaRPr lang="zh-CN" sz="1050"/>
          </a:p>
        </p:txBody>
      </p:sp>
      <p:sp>
        <p:nvSpPr>
          <p:cNvPr id="31" name="Rounded Rectangle 30"/>
          <p:cNvSpPr/>
          <p:nvPr/>
        </p:nvSpPr>
        <p:spPr>
          <a:xfrm>
            <a:off x="3172968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功能评价</a:t>
            </a:r>
            <a:endParaRPr lang="zh-CN" sz="1050"/>
          </a:p>
        </p:txBody>
      </p:sp>
      <p:sp>
        <p:nvSpPr>
          <p:cNvPr id="32" name="Rounded Rectangle 31"/>
          <p:cNvSpPr/>
          <p:nvPr/>
        </p:nvSpPr>
        <p:spPr>
          <a:xfrm>
            <a:off x="4370832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方案推荐</a:t>
            </a:r>
            <a:endParaRPr lang="zh-CN" sz="1050"/>
          </a:p>
        </p:txBody>
      </p:sp>
      <p:sp>
        <p:nvSpPr>
          <p:cNvPr id="33" name="Rounded Rectangle 32"/>
          <p:cNvSpPr/>
          <p:nvPr/>
        </p:nvSpPr>
        <p:spPr>
          <a:xfrm>
            <a:off x="5568696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050" b="1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</a:t>
            </a:r>
            <a:endParaRPr lang="zh-CN" sz="1050"/>
          </a:p>
        </p:txBody>
      </p:sp>
      <p:sp>
        <p:nvSpPr>
          <p:cNvPr id="34" name="Rounded Rectangle 33"/>
          <p:cNvSpPr/>
          <p:nvPr/>
        </p:nvSpPr>
        <p:spPr>
          <a:xfrm>
            <a:off x="6766560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检测与经济</a:t>
            </a:r>
            <a:endParaRPr lang="zh-CN" sz="1050"/>
          </a:p>
        </p:txBody>
      </p:sp>
      <p:sp>
        <p:nvSpPr>
          <p:cNvPr id="35" name="Rounded Rectangle 34"/>
          <p:cNvSpPr/>
          <p:nvPr/>
        </p:nvSpPr>
        <p:spPr>
          <a:xfrm>
            <a:off x="7964424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SSUI评价</a:t>
            </a:r>
            <a:endParaRPr lang="zh-CN" sz="1050"/>
          </a:p>
        </p:txBody>
      </p:sp>
      <p:sp>
        <p:nvSpPr>
          <p:cNvPr id="36" name="Rounded Rectangle 35"/>
          <p:cNvSpPr/>
          <p:nvPr/>
        </p:nvSpPr>
        <p:spPr>
          <a:xfrm>
            <a:off x="9162288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全过程</a:t>
            </a:r>
            <a:endParaRPr lang="zh-CN" sz="1050"/>
          </a:p>
        </p:txBody>
      </p:sp>
      <p:sp>
        <p:nvSpPr>
          <p:cNvPr id="37" name="Rounded Rectangle 36"/>
          <p:cNvSpPr/>
          <p:nvPr/>
        </p:nvSpPr>
        <p:spPr>
          <a:xfrm>
            <a:off x="10360152" y="5943600"/>
            <a:ext cx="1115568" cy="384048"/>
          </a:xfrm>
          <a:prstGeom prst="roundRect">
            <a:avLst>
              <a:gd name="adj" fmla="val 30000"/>
            </a:avLst>
          </a:prstGeom>
          <a:solidFill>
            <a:srgbClr val="FBF3E8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1" i="0" dirty="0">
                <a:solidFill>
                  <a:srgbClr val="2E7D3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材料与报告</a:t>
            </a:r>
            <a:endParaRPr lang="zh-CN" sz="1050"/>
          </a:p>
        </p:txBody>
      </p:sp>
      <p:sp>
        <p:nvSpPr>
          <p:cNvPr id="38" name="TextBox 37"/>
          <p:cNvSpPr txBox="1"/>
          <p:nvPr/>
        </p:nvSpPr>
        <p:spPr>
          <a:xfrm>
            <a:off x="777240" y="6336792"/>
            <a:ext cx="10607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修复前分析支持用途与方案讨论，修复后评价承接持续利用，全流程追溯关联各阶段材料。</a:t>
            </a:r>
            <a:endParaRPr lang="zh-CN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二、系统架构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业务流程：修复前分析与修复后评价</a:t>
            </a:r>
            <a:endParaRPr lang="zh-CN" sz="1900"/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749808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步骤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749808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87168"/>
            <a:ext cx="74980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方法处理</a:t>
            </a:r>
            <a:endParaRPr lang="zh-CN" sz="1150"/>
          </a:p>
        </p:txBody>
      </p:sp>
      <p:sp>
        <p:nvSpPr>
          <p:cNvPr id="8" name="Rectangle 7"/>
          <p:cNvSpPr/>
          <p:nvPr/>
        </p:nvSpPr>
        <p:spPr>
          <a:xfrm>
            <a:off x="777240" y="3154680"/>
            <a:ext cx="749808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保存结果</a:t>
            </a:r>
            <a:endParaRPr lang="zh-CN" sz="1150"/>
          </a:p>
        </p:txBody>
      </p:sp>
      <p:sp>
        <p:nvSpPr>
          <p:cNvPr id="9" name="Chevron 8"/>
          <p:cNvSpPr/>
          <p:nvPr/>
        </p:nvSpPr>
        <p:spPr>
          <a:xfrm>
            <a:off x="1600200" y="1481328"/>
            <a:ext cx="1417320" cy="420624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 数据导入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检测表 xlsx/csv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智能列映射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单位与格式校验</a:t>
            </a:r>
            <a:endParaRPr lang="zh-CN" sz="1150"/>
          </a:p>
        </p:txBody>
      </p:sp>
      <p:sp>
        <p:nvSpPr>
          <p:cNvPr id="12" name="Rectangle 11"/>
          <p:cNvSpPr/>
          <p:nvPr/>
        </p:nvSpPr>
        <p:spPr>
          <a:xfrm>
            <a:off x="1600200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导入批次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原始资料</a:t>
            </a:r>
            <a:endParaRPr lang="zh-CN" sz="1150"/>
          </a:p>
        </p:txBody>
      </p:sp>
      <p:sp>
        <p:nvSpPr>
          <p:cNvPr id="13" name="Chevron 12"/>
          <p:cNvSpPr/>
          <p:nvPr/>
        </p:nvSpPr>
        <p:spPr>
          <a:xfrm>
            <a:off x="3026664" y="1481328"/>
            <a:ext cx="1417320" cy="420624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 校验识别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664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原始列名/单位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26664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因子名称统一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开放集识别</a:t>
            </a:r>
            <a:endParaRPr lang="zh-CN" sz="1150"/>
          </a:p>
        </p:txBody>
      </p:sp>
      <p:sp>
        <p:nvSpPr>
          <p:cNvPr id="16" name="Rectangle 15"/>
          <p:cNvSpPr/>
          <p:nvPr/>
        </p:nvSpPr>
        <p:spPr>
          <a:xfrm>
            <a:off x="3026664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指标字典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质量标记</a:t>
            </a:r>
            <a:endParaRPr lang="zh-CN" sz="1150"/>
          </a:p>
        </p:txBody>
      </p:sp>
      <p:sp>
        <p:nvSpPr>
          <p:cNvPr id="17" name="Chevron 16"/>
          <p:cNvSpPr/>
          <p:nvPr/>
        </p:nvSpPr>
        <p:spPr>
          <a:xfrm>
            <a:off x="4453128" y="1481328"/>
            <a:ext cx="1417320" cy="420624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 场地入库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3128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场地/点位/测值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3128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记录关联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版本标记</a:t>
            </a:r>
            <a:endParaRPr lang="zh-CN" sz="1150"/>
          </a:p>
        </p:txBody>
      </p:sp>
      <p:sp>
        <p:nvSpPr>
          <p:cNvPr id="20" name="Rectangle 19"/>
          <p:cNvSpPr/>
          <p:nvPr/>
        </p:nvSpPr>
        <p:spPr>
          <a:xfrm>
            <a:off x="4453128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场地、采样记录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检测测值</a:t>
            </a:r>
            <a:endParaRPr lang="zh-CN" sz="1150"/>
          </a:p>
        </p:txBody>
      </p:sp>
      <p:sp>
        <p:nvSpPr>
          <p:cNvPr id="21" name="Chevron 20"/>
          <p:cNvSpPr/>
          <p:nvPr/>
        </p:nvSpPr>
        <p:spPr>
          <a:xfrm>
            <a:off x="5879592" y="1481328"/>
            <a:ext cx="1417320" cy="420624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 障碍诊断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测值 + pH + 用地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9592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用途参照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KOS与SHAP</a:t>
            </a:r>
            <a:endParaRPr lang="zh-CN" sz="1150"/>
          </a:p>
        </p:txBody>
      </p:sp>
      <p:sp>
        <p:nvSpPr>
          <p:cNvPr id="24" name="Rectangle 23"/>
          <p:cNvSpPr/>
          <p:nvPr/>
        </p:nvSpPr>
        <p:spPr>
          <a:xfrm>
            <a:off x="5879592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诊断及因子明细</a:t>
            </a:r>
            <a:endParaRPr lang="zh-CN" sz="1150"/>
          </a:p>
        </p:txBody>
      </p:sp>
      <p:sp>
        <p:nvSpPr>
          <p:cNvPr id="25" name="Chevron 24"/>
          <p:cNvSpPr/>
          <p:nvPr/>
        </p:nvSpPr>
        <p:spPr>
          <a:xfrm>
            <a:off x="7306056" y="1481328"/>
            <a:ext cx="1417320" cy="420624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5 重构评价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各指标场地均值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06056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分等与赋权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综合评价</a:t>
            </a:r>
            <a:endParaRPr lang="zh-CN" sz="1150"/>
          </a:p>
        </p:txBody>
      </p:sp>
      <p:sp>
        <p:nvSpPr>
          <p:cNvPr id="28" name="Rectangle 27"/>
          <p:cNvSpPr/>
          <p:nvPr/>
        </p:nvSpPr>
        <p:spPr>
          <a:xfrm>
            <a:off x="7306056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功能评价结果</a:t>
            </a:r>
            <a:endParaRPr lang="zh-CN" sz="1150"/>
          </a:p>
        </p:txBody>
      </p:sp>
      <p:sp>
        <p:nvSpPr>
          <p:cNvPr id="29" name="Chevron 28"/>
          <p:cNvSpPr/>
          <p:nvPr/>
        </p:nvSpPr>
        <p:spPr>
          <a:xfrm>
            <a:off x="10158984" y="1481328"/>
            <a:ext cx="1417320" cy="420624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 SSUI</a:t>
            </a:r>
            <a:endParaRPr lang="zh-CN" sz="1300"/>
          </a:p>
        </p:txBody>
      </p:sp>
      <p:sp>
        <p:nvSpPr>
          <p:cNvPr id="30" name="Rectangle 29"/>
          <p:cNvSpPr/>
          <p:nvPr/>
        </p:nvSpPr>
        <p:spPr>
          <a:xfrm>
            <a:off x="10158984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修复后检测</a:t>
            </a:r>
            <a:endParaRPr lang="zh-CN" sz="1150"/>
          </a:p>
          <a:p>
            <a:pPr algn="ctr">
              <a:lnSpc>
                <a:spcPct val="100000"/>
              </a:lnSpc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D1–D25 指标得分</a:t>
            </a:r>
            <a:endParaRPr lang="zh-CN" sz="1150"/>
          </a:p>
        </p:txBody>
      </p:sp>
      <p:sp>
        <p:nvSpPr>
          <p:cNvPr id="31" name="Rectangle 30"/>
          <p:cNvSpPr/>
          <p:nvPr/>
        </p:nvSpPr>
        <p:spPr>
          <a:xfrm>
            <a:off x="10158984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安全与经济评价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时间/管理参数</a:t>
            </a:r>
            <a:endParaRPr lang="zh-CN" sz="1150"/>
          </a:p>
        </p:txBody>
      </p:sp>
      <p:sp>
        <p:nvSpPr>
          <p:cNvPr id="32" name="Rectangle 31"/>
          <p:cNvSpPr/>
          <p:nvPr/>
        </p:nvSpPr>
        <p:spPr>
          <a:xfrm>
            <a:off x="10158984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SSUI 结果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定义域外不分级</a:t>
            </a:r>
            <a:endParaRPr lang="zh-CN" sz="1150"/>
          </a:p>
        </p:txBody>
      </p:sp>
      <p:sp>
        <p:nvSpPr>
          <p:cNvPr id="33" name="Chevron 32"/>
          <p:cNvSpPr/>
          <p:nvPr/>
        </p:nvSpPr>
        <p:spPr>
          <a:xfrm>
            <a:off x="8732520" y="1481328"/>
            <a:ext cx="1417320" cy="420624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6 方案推荐</a:t>
            </a:r>
            <a:endParaRPr lang="zh-CN" sz="1250"/>
          </a:p>
        </p:txBody>
      </p:sp>
      <p:sp>
        <p:nvSpPr>
          <p:cNvPr id="34" name="Rectangle 33"/>
          <p:cNvSpPr/>
          <p:nvPr/>
        </p:nvSpPr>
        <p:spPr>
          <a:xfrm>
            <a:off x="8732520" y="2011680"/>
            <a:ext cx="1344168" cy="42062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 障碍 + 技术库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487168"/>
            <a:ext cx="13441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障碍与技术匹配</a:t>
            </a:r>
            <a:endParaRPr lang="zh-CN" sz="115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候选方案</a:t>
            </a:r>
            <a:endParaRPr lang="zh-CN" sz="1150"/>
          </a:p>
        </p:txBody>
      </p:sp>
      <p:sp>
        <p:nvSpPr>
          <p:cNvPr id="36" name="Rectangle 35"/>
          <p:cNvSpPr/>
          <p:nvPr/>
        </p:nvSpPr>
        <p:spPr>
          <a:xfrm>
            <a:off x="8732520" y="3154680"/>
            <a:ext cx="13441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8502A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5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方案及匹配依据</a:t>
            </a:r>
            <a:endParaRPr lang="zh-CN" sz="1150"/>
          </a:p>
        </p:txBody>
      </p:sp>
      <p:sp>
        <p:nvSpPr>
          <p:cNvPr id="37" name="TextBox 36"/>
          <p:cNvSpPr txBox="1"/>
          <p:nvPr/>
        </p:nvSpPr>
        <p:spPr>
          <a:xfrm>
            <a:off x="777240" y="388620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五阶段监管材料：按阶段组织报告、检测数据、方案版本与过程记录</a:t>
            </a:r>
            <a:endParaRPr lang="zh-CN" sz="1200"/>
          </a:p>
        </p:txBody>
      </p:sp>
      <p:sp>
        <p:nvSpPr>
          <p:cNvPr id="38" name="Rounded Rectangle 37"/>
          <p:cNvSpPr/>
          <p:nvPr/>
        </p:nvSpPr>
        <p:spPr>
          <a:xfrm>
            <a:off x="777240" y="4279392"/>
            <a:ext cx="1481328" cy="502920"/>
          </a:xfrm>
          <a:prstGeom prst="roundRect">
            <a:avLst>
              <a:gd name="adj" fmla="val 20000"/>
            </a:avLst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调查评估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76856" y="4530852"/>
            <a:ext cx="18288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478024" y="4279392"/>
            <a:ext cx="1481328" cy="502920"/>
          </a:xfrm>
          <a:prstGeom prst="roundRect">
            <a:avLst>
              <a:gd name="adj" fmla="val 20000"/>
            </a:avLst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方案审批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77639" y="4530852"/>
            <a:ext cx="182881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178808" y="4279392"/>
            <a:ext cx="1481328" cy="502920"/>
          </a:xfrm>
          <a:prstGeom prst="roundRect">
            <a:avLst>
              <a:gd name="adj" fmla="val 20000"/>
            </a:avLst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施工监理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78424" y="4530852"/>
            <a:ext cx="18288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879592" y="4279392"/>
            <a:ext cx="1481328" cy="502920"/>
          </a:xfrm>
          <a:prstGeom prst="roundRect">
            <a:avLst>
              <a:gd name="adj" fmla="val 20000"/>
            </a:avLst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效果评估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79208" y="4530852"/>
            <a:ext cx="182880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580376" y="4279392"/>
            <a:ext cx="1481328" cy="502920"/>
          </a:xfrm>
          <a:prstGeom prst="roundRect">
            <a:avLst>
              <a:gd name="adj" fmla="val 20000"/>
            </a:avLst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0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后期管护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079992" y="4530852"/>
            <a:ext cx="384048" cy="0"/>
          </a:xfrm>
          <a:prstGeom prst="line">
            <a:avLst/>
          </a:prstGeom>
          <a:ln w="19050">
            <a:solidFill>
              <a:srgbClr val="A8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491472" y="4224528"/>
            <a:ext cx="1938528" cy="612648"/>
          </a:xfrm>
          <a:prstGeom prst="rect">
            <a:avLst/>
          </a:prstGeom>
          <a:solidFill>
            <a:srgbClr val="FFFFFF"/>
          </a:solidFill>
          <a:ln w="1587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95000"/>
              </a:lnSpc>
            </a:pPr>
            <a:r>
              <a:rPr lang="zh-CN" altLang="en-US" sz="120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一键追溯报告</a:t>
            </a:r>
          </a:p>
          <a:p>
            <a:pPr algn="ctr">
              <a:lnSpc>
                <a:spcPct val="95000"/>
              </a:lnSpc>
            </a:pPr>
            <a:r>
              <a:rPr lang="zh-CN" altLang="en-US" sz="1200" b="1" i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PDF / DOCX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873752"/>
            <a:ext cx="859536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阶段记录、材料附件、分析报告与操作日志相互关联</a:t>
            </a:r>
            <a:endParaRPr lang="zh-CN" sz="1200"/>
          </a:p>
        </p:txBody>
      </p:sp>
      <p:sp>
        <p:nvSpPr>
          <p:cNvPr id="50" name="Rectangle 49"/>
          <p:cNvSpPr/>
          <p:nvPr/>
        </p:nvSpPr>
        <p:spPr>
          <a:xfrm>
            <a:off x="777240" y="5349240"/>
            <a:ext cx="10652760" cy="111556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课题任务与输入</a:t>
            </a:r>
            <a:endParaRPr lang="zh-CN" sz="14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修复前：检测与用途参照支持障碍诊断、功能评价和方案讨论。修复后：独立检测与 D1–D25 指标得分（得分录入）支持 SSUI。</a:t>
            </a:r>
            <a:endParaRPr lang="zh-CN" sz="14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两类任务分别保存输入、参数与结果，五阶段材料管理贯穿场地调查、修复实施和后期管护。</a:t>
            </a:r>
            <a:endParaRPr lang="zh-CN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1. 数据管理：三类场景数据与智能导入</a:t>
            </a:r>
            <a:endParaRPr lang="zh-CN" sz="1900"/>
          </a:p>
        </p:txBody>
      </p:sp>
      <p:pic>
        <p:nvPicPr>
          <p:cNvPr id="1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93706"/>
            <a:ext cx="5852160" cy="34499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980245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场地管理界面（v1.2.2 运行截图，演示数据），与右表三个场景分开说明</a:t>
            </a:r>
            <a:endParaRPr lang="zh-CN" sz="1000"/>
          </a:p>
        </p:txBody>
      </p:sp>
      <p:sp>
        <p:nvSpPr>
          <p:cNvPr id="10" name="TextBox 9"/>
          <p:cNvSpPr txBox="1"/>
          <p:nvPr/>
        </p:nvSpPr>
        <p:spPr>
          <a:xfrm>
            <a:off x="777240" y="5321808"/>
            <a:ext cx="585216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· 按污染特征组织重金属、有机和复合场景。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· 智能映射检测表列名与指标，未识别记录保留并列为“未映射”。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· 场地管理关联采样记录、检测测值与统计结果。</a:t>
            </a:r>
            <a:endParaRPr lang="zh-CN" sz="1200"/>
          </a:p>
        </p:txBody>
      </p:sp>
      <p:sp>
        <p:nvSpPr>
          <p:cNvPr id="11" name="面板-甲方真实检测表导入结果（本次复核）"/>
          <p:cNvSpPr/>
          <p:nvPr/>
        </p:nvSpPr>
        <p:spPr>
          <a:xfrm>
            <a:off x="6858000" y="1481328"/>
            <a:ext cx="45720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2" name="面板标题-甲方真实检测表导入结果（本次复核）"/>
          <p:cNvSpPr/>
          <p:nvPr/>
        </p:nvSpPr>
        <p:spPr>
          <a:xfrm>
            <a:off x="6858000" y="1481328"/>
            <a:ext cx="457200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三类场景数据及导入记录</a:t>
            </a:r>
            <a:endParaRPr lang="zh-CN" sz="14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67728" y="1965960"/>
          <a:ext cx="4352544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场景数据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采样记录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导入测值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类型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未映射项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乡村建设用地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8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192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复合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7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南京栖霞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49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1,911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有机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25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云南个旧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1,876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重金属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05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</a:t>
                      </a:r>
                      <a:endParaRPr lang="zh-CN" sz="105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995160" y="3749039"/>
            <a:ext cx="4297680" cy="2651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场景特点与数据处理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乡村：镉、石油烃及土壤性质，包含用途和土层信息。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栖霞：有机物名称复杂，附挥发性与半挥发性半定量记录。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个旧：重金属浓度、pH和土壤养分共同构成诊断输入。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已完成列名映射、污染类型组织和未知项保留，使不同表结构能够进入同一分析链路。</a:t>
            </a:r>
            <a:endParaRPr lang="zh-CN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1. 数据管理：数据基础与障碍因子知识库</a:t>
            </a:r>
            <a:endParaRPr lang="zh-CN" sz="19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81328"/>
          <a:ext cx="7223760" cy="433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数据资产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规模与结构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数据性质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研究与系统用途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统一障碍因子知识库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403条记录 / 402条因子记录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含1条区域与选取说明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阈值解析、障碍判断与指标分等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官方标准阈值库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233 条（GB 15618 + GB 36600）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官方 PDF 逐行转录、按 CAS 绑定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法规门禁与正式障碍判定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文献训练数据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27,031样本 / 1,158来源</a:t>
                      </a:r>
                      <a:endParaRPr lang="zh-CN" sz="1100"/>
                    </a:p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长表443,121条观测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文献数据清洗产物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模型训练与来源分组测试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三类场景检测表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3表 / 191条采样记录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项目场景资料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数据接入与案例展示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修复技术库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10项技术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技术资料整理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关联障碍与候选技术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演示数据包（v1.2.2）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A–H 8 个合成场地 + 案例 P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固定种子蒙特卡洛模拟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验收演示与回归检查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校验与回归夹具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8 份导入夹具 + 10 份 SSUI 旧得分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刻意构造的错误与域外输入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验证拒绝、告警与不分级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72237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403条含1条说明行；因子记录不等于可计算阈值或独立污染物种类。演示数据用于操作展示。</a:t>
            </a:r>
            <a:endParaRPr lang="zh-CN" sz="1100"/>
          </a:p>
        </p:txBody>
      </p:sp>
      <p:sp>
        <p:nvSpPr>
          <p:cNvPr id="7" name="面板-知识库条目按标准来源"/>
          <p:cNvSpPr/>
          <p:nvPr/>
        </p:nvSpPr>
        <p:spPr>
          <a:xfrm>
            <a:off x="8229600" y="1481328"/>
            <a:ext cx="32004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8" name="面板标题-知识库条目按标准来源"/>
          <p:cNvSpPr/>
          <p:nvPr/>
        </p:nvSpPr>
        <p:spPr>
          <a:xfrm>
            <a:off x="8229600" y="1481328"/>
            <a:ext cx="320040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知识库来源条目统计</a:t>
            </a:r>
            <a:endParaRPr lang="zh-CN" sz="1400"/>
          </a:p>
        </p:txBody>
      </p:sp>
      <p:sp>
        <p:nvSpPr>
          <p:cNvPr id="200" name="补充说明 200"/>
          <p:cNvSpPr txBox="1"/>
          <p:nvPr/>
        </p:nvSpPr>
        <p:spPr>
          <a:xfrm>
            <a:off x="8366760" y="1993392"/>
            <a:ext cx="2898648" cy="26517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1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GB 36600-2018   170条</a:t>
            </a:r>
            <a:endParaRPr lang="zh-CN" sz="1100"/>
          </a:p>
        </p:txBody>
      </p:sp>
      <p:sp>
        <p:nvSpPr>
          <p:cNvPr id="201" name="补充说明 201"/>
          <p:cNvSpPr txBox="1"/>
          <p:nvPr/>
        </p:nvSpPr>
        <p:spPr>
          <a:xfrm>
            <a:off x="8366760" y="2322576"/>
            <a:ext cx="2816352" cy="246888"/>
          </a:xfrm>
          <a:prstGeom prst="rect">
            <a:avLst/>
          </a:prstGeom>
          <a:solidFill>
            <a:srgbClr val="A8502A"/>
          </a:solidFill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zh-CN" sz="1300"/>
          </a:p>
        </p:txBody>
      </p:sp>
      <p:sp>
        <p:nvSpPr>
          <p:cNvPr id="202" name="补充说明 202"/>
          <p:cNvSpPr txBox="1"/>
          <p:nvPr/>
        </p:nvSpPr>
        <p:spPr>
          <a:xfrm>
            <a:off x="8366760" y="2779776"/>
            <a:ext cx="2898648" cy="26517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1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TD/T 1036-2013   124条</a:t>
            </a:r>
            <a:endParaRPr lang="zh-CN" sz="1100"/>
          </a:p>
        </p:txBody>
      </p:sp>
      <p:sp>
        <p:nvSpPr>
          <p:cNvPr id="203" name="补充说明 203"/>
          <p:cNvSpPr txBox="1"/>
          <p:nvPr/>
        </p:nvSpPr>
        <p:spPr>
          <a:xfrm>
            <a:off x="8366760" y="3108960"/>
            <a:ext cx="2054280" cy="246888"/>
          </a:xfrm>
          <a:prstGeom prst="rect">
            <a:avLst/>
          </a:prstGeom>
          <a:solidFill>
            <a:srgbClr val="A8502A"/>
          </a:solidFill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zh-CN" sz="1300"/>
          </a:p>
        </p:txBody>
      </p:sp>
      <p:sp>
        <p:nvSpPr>
          <p:cNvPr id="204" name="补充说明 204"/>
          <p:cNvSpPr txBox="1"/>
          <p:nvPr/>
        </p:nvSpPr>
        <p:spPr>
          <a:xfrm>
            <a:off x="8366760" y="3566160"/>
            <a:ext cx="2898648" cy="26517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1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GB 15618-2018   59条</a:t>
            </a:r>
            <a:endParaRPr lang="zh-CN" sz="1100"/>
          </a:p>
        </p:txBody>
      </p:sp>
      <p:sp>
        <p:nvSpPr>
          <p:cNvPr id="205" name="补充说明 205"/>
          <p:cNvSpPr txBox="1"/>
          <p:nvPr/>
        </p:nvSpPr>
        <p:spPr>
          <a:xfrm>
            <a:off x="8366760" y="3895344"/>
            <a:ext cx="977440" cy="246888"/>
          </a:xfrm>
          <a:prstGeom prst="rect">
            <a:avLst/>
          </a:prstGeom>
          <a:solidFill>
            <a:srgbClr val="A8502A"/>
          </a:solidFill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zh-CN" sz="1300"/>
          </a:p>
        </p:txBody>
      </p:sp>
      <p:sp>
        <p:nvSpPr>
          <p:cNvPr id="206" name="补充说明 206"/>
          <p:cNvSpPr txBox="1"/>
          <p:nvPr/>
        </p:nvSpPr>
        <p:spPr>
          <a:xfrm>
            <a:off x="8366760" y="4352544"/>
            <a:ext cx="2898648" cy="26517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1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CJ/T 340-2016   44条</a:t>
            </a:r>
            <a:endParaRPr lang="zh-CN" sz="1100"/>
          </a:p>
        </p:txBody>
      </p:sp>
      <p:sp>
        <p:nvSpPr>
          <p:cNvPr id="207" name="补充说明 207"/>
          <p:cNvSpPr txBox="1"/>
          <p:nvPr/>
        </p:nvSpPr>
        <p:spPr>
          <a:xfrm>
            <a:off x="8366760" y="4681728"/>
            <a:ext cx="728938" cy="246888"/>
          </a:xfrm>
          <a:prstGeom prst="rect">
            <a:avLst/>
          </a:prstGeom>
          <a:solidFill>
            <a:srgbClr val="A8502A"/>
          </a:solidFill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zh-CN" sz="1300"/>
          </a:p>
        </p:txBody>
      </p:sp>
      <p:sp>
        <p:nvSpPr>
          <p:cNvPr id="208" name="补充说明 208"/>
          <p:cNvSpPr txBox="1"/>
          <p:nvPr/>
        </p:nvSpPr>
        <p:spPr>
          <a:xfrm>
            <a:off x="8366760" y="5138928"/>
            <a:ext cx="2898648" cy="26517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1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CJJ 82-2012   5条</a:t>
            </a:r>
            <a:endParaRPr lang="zh-CN" sz="1100"/>
          </a:p>
        </p:txBody>
      </p:sp>
      <p:sp>
        <p:nvSpPr>
          <p:cNvPr id="209" name="补充说明 209"/>
          <p:cNvSpPr txBox="1"/>
          <p:nvPr/>
        </p:nvSpPr>
        <p:spPr>
          <a:xfrm>
            <a:off x="8366760" y="5468112"/>
            <a:ext cx="82834" cy="246888"/>
          </a:xfrm>
          <a:prstGeom prst="rect">
            <a:avLst/>
          </a:prstGeom>
          <a:solidFill>
            <a:srgbClr val="A8502A"/>
          </a:solidFill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endParaRPr lang="zh-CN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2. 决策管理：关键障碍因子诊断</a:t>
            </a:r>
            <a:endParaRPr lang="zh-CN" sz="1900"/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4892040" cy="566928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3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 = B × ( 0.30R + 0.25W + 0.15M + 0.20S + 0.10E 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21408"/>
          <a:ext cx="489204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分量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权重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方法含义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B 门控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—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偏离适用参照的因子进入排序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R 规则严重度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0.30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按偏离程度归一化，说明限制强度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W 用途权重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0.25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体现生产与生态任务的不同侧重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M 模型贡献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0.15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以局部SHAP辅助解释当前输入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S 稳定性参数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0.20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模型级 Top-5 稳定性（缺省 0.8）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E 证据等级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0.10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A/B/C/D对应1.0/0.8/0.5/0.3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48920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正式排名只收官方标准超标、单位可证的因子；文献参考值仅作探索性提示。</a:t>
            </a:r>
            <a:endParaRPr lang="zh-CN" sz="11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单体按名称/CAS 绑定自身限值；无官方总量值的族总量不判定。</a:t>
            </a:r>
            <a:endParaRPr lang="zh-CN" sz="110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81328"/>
          <a:ext cx="5532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1" i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模型（RF 回归；目标为阈值派生障碍指数）</a:t>
                      </a:r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1" i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Spearman</a:t>
                      </a:r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1" i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R²</a:t>
                      </a:r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生产轨 Full（110 特征）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0.962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0.796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生态轨 Full（110 特征）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0.965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0.778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消融：仅实测（生产/生态）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0.968 / 0.970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0.835 / 0.815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消融：仅背景协变量（生产/生态）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0.311 / 0.325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b="0" i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−0.035 / −0.015</a:t>
                      </a:r>
                    </a:p>
                  </a:txBody>
                  <a:tcPr marL="54864" marR="54864" marT="27432" marB="27432" anchor="ctr">
                    <a:solidFill>
                      <a:srgbClr val="F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3291840"/>
            <a:ext cx="5532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模型测试采用文献来源分组，指标反映阈值派生目标的复现。</a:t>
            </a:r>
            <a:endParaRPr lang="zh-CN" sz="11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局部SHAP用于解释模型判断，属于辅助依据。</a:t>
            </a:r>
            <a:endParaRPr lang="zh-CN" sz="1100"/>
          </a:p>
        </p:txBody>
      </p:sp>
      <p:pic>
        <p:nvPicPr>
          <p:cNvPr id="13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863" y="3858768"/>
            <a:ext cx="5526152" cy="1755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5632703"/>
            <a:ext cx="5532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障碍因子分析界面（v1.2.2 运行截图，演示场地）：正式 Top-N 与探索性提示分列</a:t>
            </a:r>
            <a:endParaRPr lang="zh-CN" sz="1000"/>
          </a:p>
        </p:txBody>
      </p:sp>
      <p:sp>
        <p:nvSpPr>
          <p:cNvPr id="12" name="Rectangle 11"/>
          <p:cNvSpPr/>
          <p:nvPr/>
        </p:nvSpPr>
        <p:spPr>
          <a:xfrm>
            <a:off x="777240" y="5532120"/>
            <a:ext cx="4892040" cy="914400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3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KOS：关键障碍综合评分（Key Obstacle Score）</a:t>
            </a:r>
            <a:endParaRPr lang="zh-CN" sz="13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3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结合实测数据与用途参照，综合五分量评分，输出重点障碍因子及其排序依据。</a:t>
            </a:r>
            <a:endParaRPr lang="zh-CN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2. 决策管理：生产与生态功能重构评价</a:t>
            </a:r>
            <a:endParaRPr lang="zh-CN" sz="1900"/>
          </a:p>
        </p:txBody>
      </p:sp>
      <p:sp>
        <p:nvSpPr>
          <p:cNvPr id="5" name="Chevron 4"/>
          <p:cNvSpPr/>
          <p:nvPr>
            <p:custDataLst>
              <p:tags r:id="rId1"/>
            </p:custDataLst>
          </p:nvPr>
        </p:nvSpPr>
        <p:spPr>
          <a:xfrm>
            <a:off x="777240" y="1481328"/>
            <a:ext cx="1572768" cy="402336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① 28 项指标导入</a:t>
            </a: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813816" y="1920240"/>
            <a:ext cx="141732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模板 RECON-PRE-v1.2</a:t>
            </a:r>
            <a:endParaRPr lang="zh-CN" sz="11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数值与类别分列</a:t>
            </a:r>
            <a:endParaRPr lang="zh-CN" sz="11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逐格校验后确认</a:t>
            </a:r>
            <a:endParaRPr lang="zh-CN" sz="1100"/>
          </a:p>
        </p:txBody>
      </p:sp>
      <p:sp>
        <p:nvSpPr>
          <p:cNvPr id="7" name="Chevron 6"/>
          <p:cNvSpPr/>
          <p:nvPr>
            <p:custDataLst>
              <p:tags r:id="rId3"/>
            </p:custDataLst>
          </p:nvPr>
        </p:nvSpPr>
        <p:spPr>
          <a:xfrm>
            <a:off x="2322576" y="1481328"/>
            <a:ext cx="1572768" cy="402336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② 分等赋分 F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2359152" y="1920240"/>
            <a:ext cx="141732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0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按评价方法表 2.22 对各指标分等赋分</a:t>
            </a:r>
          </a:p>
        </p:txBody>
      </p:sp>
      <p:sp>
        <p:nvSpPr>
          <p:cNvPr id="9" name="Chevron 8"/>
          <p:cNvSpPr/>
          <p:nvPr>
            <p:custDataLst>
              <p:tags r:id="rId5"/>
            </p:custDataLst>
          </p:nvPr>
        </p:nvSpPr>
        <p:spPr>
          <a:xfrm>
            <a:off x="3867911" y="1481328"/>
            <a:ext cx="1572768" cy="402336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③ 权重原值 T</a:t>
            </a:r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3904487" y="1920240"/>
            <a:ext cx="141732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0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表 2.18 / 2.20 权重原值使用，不归一化</a:t>
            </a:r>
          </a:p>
        </p:txBody>
      </p:sp>
      <p:sp>
        <p:nvSpPr>
          <p:cNvPr id="11" name="Chevron 10"/>
          <p:cNvSpPr/>
          <p:nvPr>
            <p:custDataLst>
              <p:tags r:id="rId7"/>
            </p:custDataLst>
          </p:nvPr>
        </p:nvSpPr>
        <p:spPr>
          <a:xfrm>
            <a:off x="5413248" y="1481328"/>
            <a:ext cx="1572768" cy="402336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④ 缺测处理</a:t>
            </a:r>
          </a:p>
        </p:txBody>
      </p:sp>
      <p:sp>
        <p:nvSpPr>
          <p:cNvPr id="12" name="Rectangle 11"/>
          <p:cNvSpPr/>
          <p:nvPr>
            <p:custDataLst>
              <p:tags r:id="rId8"/>
            </p:custDataLst>
          </p:nvPr>
        </p:nvSpPr>
        <p:spPr>
          <a:xfrm>
            <a:off x="5449824" y="1920240"/>
            <a:ext cx="141732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0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按表 2.19 / 2.21 准则层权重；类别分用内梅罗指数</a:t>
            </a:r>
          </a:p>
        </p:txBody>
      </p:sp>
      <p:sp>
        <p:nvSpPr>
          <p:cNvPr id="13" name="Chevron 12"/>
          <p:cNvSpPr/>
          <p:nvPr>
            <p:custDataLst>
              <p:tags r:id="rId9"/>
            </p:custDataLst>
          </p:nvPr>
        </p:nvSpPr>
        <p:spPr>
          <a:xfrm>
            <a:off x="6958583" y="1481328"/>
            <a:ext cx="1572768" cy="402336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1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⑤ 可行性判定</a:t>
            </a:r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6995159" y="1920240"/>
            <a:ext cx="1417320" cy="841248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综合得分 Σ(F×T)，&gt; 50 为可行；输出限制因子</a:t>
            </a:r>
            <a:endParaRPr lang="zh-CN" sz="1100"/>
          </a:p>
        </p:txBody>
      </p:sp>
      <p:pic>
        <p:nvPicPr>
          <p:cNvPr id="23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2901058"/>
            <a:ext cx="7635240" cy="24732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401693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课题二 28 项指标导入与计算过程（v1.2.2 运行截图，演示场地）</a:t>
            </a:r>
            <a:endParaRPr lang="zh-CN" sz="1000"/>
          </a:p>
        </p:txBody>
      </p:sp>
      <p:sp>
        <p:nvSpPr>
          <p:cNvPr id="19" name="TextBox 18"/>
          <p:cNvSpPr txBox="1"/>
          <p:nvPr/>
        </p:nvSpPr>
        <p:spPr>
          <a:xfrm>
            <a:off x="777240" y="5852160"/>
            <a:ext cx="76352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· 原始指标、分等得分和权重逐项对应，计算路径可展开复核。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· 生产与生态分轨给出综合得分、可行性与限制因素。</a:t>
            </a:r>
            <a:endParaRPr lang="zh-CN" sz="1200"/>
          </a:p>
        </p:txBody>
      </p:sp>
      <p:sp>
        <p:nvSpPr>
          <p:cNvPr id="20" name="面板-真实场地复核：云南个旧"/>
          <p:cNvSpPr/>
          <p:nvPr/>
        </p:nvSpPr>
        <p:spPr>
          <a:xfrm>
            <a:off x="8595360" y="1481328"/>
            <a:ext cx="28346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21" name="面板标题-真实场地复核：云南个旧"/>
          <p:cNvSpPr/>
          <p:nvPr/>
        </p:nvSpPr>
        <p:spPr>
          <a:xfrm>
            <a:off x="8595360" y="1481328"/>
            <a:ext cx="283464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用途判断的解释</a:t>
            </a:r>
            <a:endParaRPr lang="zh-CN" sz="1400"/>
          </a:p>
        </p:txBody>
      </p:sp>
      <p:sp>
        <p:nvSpPr>
          <p:cNvPr id="22" name="TextBox 21"/>
          <p:cNvSpPr txBox="1"/>
          <p:nvPr/>
        </p:nvSpPr>
        <p:spPr>
          <a:xfrm>
            <a:off x="8686800" y="1901952"/>
            <a:ext cx="2651760" cy="44988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共同风险限制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结合污染物、适用参照与数据覆盖检查。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生产用途条件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分析酸碱度、肥力、结构及生产支持条件。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生态用途条件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分析植被恢复与环境功能相关条件。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结果用途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以双轨得分和限制因素支持用途比较，综合风险与目标形成判断依据。</a:t>
            </a:r>
            <a:endParaRPr lang="zh-CN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2. 决策管理：修复后持续利用评价（SSUI）</a:t>
            </a:r>
            <a:endParaRPr lang="zh-CN" sz="1900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051560" cy="6400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目标层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508760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SSUI 土壤可持续利用综合指数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258568"/>
            <a:ext cx="1051560" cy="6400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准则层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258568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安全性 B1  ·  经济性 B2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008375"/>
            <a:ext cx="1051560" cy="6400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指标层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008375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C1 限制 · C2 风险 · C3 经济成本 · C4 经济效益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3758183"/>
            <a:ext cx="1051560" cy="6400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元指标层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3758183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1050" b="0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D1–D17 安全性（外部参照/法规阈值）；D18–D25 经济性（成本、单位面积产值、效益费用比等）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72000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SSUI = Σ( Wi · Si ) × f(t) × M，   f(t) = 1 + 0.03t，   M 为管理调节因子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75504"/>
            <a:ext cx="54864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得分录入模式：D1–D25 得分由课题组赋分后导入；原始值→得分尚未实现。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等级只在 [0, 1.0] 内给出（暂定演示分级）；超出时保留原值、不分级、不作支持判断。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修复后污染物检测用于法规门禁，缺测项目不视为达标。</a:t>
            </a:r>
            <a:endParaRPr lang="zh-CN" sz="1200"/>
          </a:p>
        </p:txBody>
      </p:sp>
      <p:pic>
        <p:nvPicPr>
          <p:cNvPr id="20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59041"/>
            <a:ext cx="4983480" cy="17476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3434166"/>
            <a:ext cx="4983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定义域外示例：旧演示得分 SSUI 1.019189 —— 原值保留、不分级（运行截图）</a:t>
            </a:r>
            <a:endParaRPr lang="zh-CN" sz="1000"/>
          </a:p>
        </p:txBody>
      </p:sp>
      <p:sp>
        <p:nvSpPr>
          <p:cNvPr id="17" name="面板-待落实事项"/>
          <p:cNvSpPr/>
          <p:nvPr/>
        </p:nvSpPr>
        <p:spPr>
          <a:xfrm>
            <a:off x="6446520" y="4206240"/>
            <a:ext cx="4983480" cy="22585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8" name="面板标题-待落实事项"/>
          <p:cNvSpPr/>
          <p:nvPr/>
        </p:nvSpPr>
        <p:spPr>
          <a:xfrm>
            <a:off x="6446520" y="4206240"/>
            <a:ext cx="498348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修复后评价的数据组织</a:t>
            </a:r>
            <a:endParaRPr lang="zh-CN" sz="1400"/>
          </a:p>
        </p:txBody>
      </p:sp>
      <p:sp>
        <p:nvSpPr>
          <p:cNvPr id="19" name="TextBox 18"/>
          <p:cNvSpPr txBox="1"/>
          <p:nvPr/>
        </p:nvSpPr>
        <p:spPr>
          <a:xfrm>
            <a:off x="6537959" y="4626864"/>
            <a:ext cx="4800600" cy="1801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修复后检测：对应场地、采样批次和利用目标。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指标得分：D1–D17 安全性、D18–D25 经济性，0–1 得分录入。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计算记录：保存权重、方法版本、时间 t 与管理因子 M。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等级：0.8–1.0 高度 / 0.6–0.8 中度 / 0.4–0.6 低度 / &lt;0.4 不可持续。</a:t>
            </a:r>
            <a:endParaRPr lang="zh-CN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2. 决策管理：方案推荐与个旧场景示例</a:t>
            </a:r>
            <a:endParaRPr lang="zh-CN" sz="1900"/>
          </a:p>
        </p:txBody>
      </p:sp>
      <p:sp>
        <p:nvSpPr>
          <p:cNvPr id="5" name="Chevron 4"/>
          <p:cNvSpPr/>
          <p:nvPr/>
        </p:nvSpPr>
        <p:spPr>
          <a:xfrm>
            <a:off x="777240" y="1481328"/>
            <a:ext cx="2194560" cy="384048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场景输入</a:t>
            </a:r>
            <a:endParaRPr lang="zh-CN" sz="1250"/>
          </a:p>
        </p:txBody>
      </p:sp>
      <p:sp>
        <p:nvSpPr>
          <p:cNvPr id="6" name="Rectangle 5"/>
          <p:cNvSpPr/>
          <p:nvPr/>
        </p:nvSpPr>
        <p:spPr>
          <a:xfrm>
            <a:off x="850392" y="1892807"/>
            <a:ext cx="2011680" cy="60350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原始检测表（2025-07-31）</a:t>
            </a:r>
            <a:endParaRPr lang="zh-CN" sz="11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134条采样记录</a:t>
            </a:r>
            <a:endParaRPr lang="zh-CN" sz="1100"/>
          </a:p>
        </p:txBody>
      </p:sp>
      <p:sp>
        <p:nvSpPr>
          <p:cNvPr id="7" name="Chevron 6"/>
          <p:cNvSpPr/>
          <p:nvPr/>
        </p:nvSpPr>
        <p:spPr>
          <a:xfrm>
            <a:off x="2926080" y="1481328"/>
            <a:ext cx="2194560" cy="384048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障碍诊断</a:t>
            </a:r>
            <a:endParaRPr lang="zh-CN" sz="1250"/>
          </a:p>
        </p:txBody>
      </p:sp>
      <p:sp>
        <p:nvSpPr>
          <p:cNvPr id="8" name="Rectangle 7"/>
          <p:cNvSpPr/>
          <p:nvPr/>
        </p:nvSpPr>
        <p:spPr>
          <a:xfrm>
            <a:off x="2999232" y="1892807"/>
            <a:ext cx="2011680" cy="60350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实测值与用途参照</a:t>
            </a:r>
            <a:endParaRPr lang="zh-CN" sz="11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KOS重点障碍</a:t>
            </a:r>
            <a:endParaRPr lang="zh-CN" sz="1100"/>
          </a:p>
        </p:txBody>
      </p:sp>
      <p:sp>
        <p:nvSpPr>
          <p:cNvPr id="9" name="Chevron 8"/>
          <p:cNvSpPr/>
          <p:nvPr/>
        </p:nvSpPr>
        <p:spPr>
          <a:xfrm>
            <a:off x="5074920" y="1481328"/>
            <a:ext cx="2194560" cy="384048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功能评价</a:t>
            </a:r>
            <a:endParaRPr lang="zh-CN" sz="1250"/>
          </a:p>
        </p:txBody>
      </p:sp>
      <p:sp>
        <p:nvSpPr>
          <p:cNvPr id="10" name="Rectangle 9"/>
          <p:cNvSpPr/>
          <p:nvPr/>
        </p:nvSpPr>
        <p:spPr>
          <a:xfrm>
            <a:off x="5148072" y="1892807"/>
            <a:ext cx="2011680" cy="60350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生产与生态双轨</a:t>
            </a:r>
            <a:endParaRPr lang="zh-CN" sz="11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用途条件与短板</a:t>
            </a:r>
            <a:endParaRPr lang="zh-CN" sz="1100"/>
          </a:p>
        </p:txBody>
      </p:sp>
      <p:sp>
        <p:nvSpPr>
          <p:cNvPr id="11" name="Chevron 10"/>
          <p:cNvSpPr/>
          <p:nvPr/>
        </p:nvSpPr>
        <p:spPr>
          <a:xfrm>
            <a:off x="7223760" y="1481328"/>
            <a:ext cx="2194560" cy="384048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候选技术</a:t>
            </a:r>
            <a:endParaRPr lang="zh-CN" sz="1250"/>
          </a:p>
        </p:txBody>
      </p:sp>
      <p:sp>
        <p:nvSpPr>
          <p:cNvPr id="12" name="Rectangle 11"/>
          <p:cNvSpPr/>
          <p:nvPr/>
        </p:nvSpPr>
        <p:spPr>
          <a:xfrm>
            <a:off x="7296912" y="1892807"/>
            <a:ext cx="2011680" cy="60350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障碍因子与技术库</a:t>
            </a:r>
            <a:endParaRPr lang="zh-CN" sz="11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匹配依据与适用条件</a:t>
            </a:r>
            <a:endParaRPr lang="zh-CN" sz="1100"/>
          </a:p>
        </p:txBody>
      </p:sp>
      <p:sp>
        <p:nvSpPr>
          <p:cNvPr id="13" name="Chevron 12"/>
          <p:cNvSpPr/>
          <p:nvPr/>
        </p:nvSpPr>
        <p:spPr>
          <a:xfrm>
            <a:off x="9372600" y="1481328"/>
            <a:ext cx="2194560" cy="384048"/>
          </a:xfrm>
          <a:prstGeom prst="chevron">
            <a:avLst>
              <a:gd name="adj" fmla="val 2500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5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方案与材料</a:t>
            </a:r>
            <a:endParaRPr lang="zh-CN" sz="1250"/>
          </a:p>
        </p:txBody>
      </p:sp>
      <p:sp>
        <p:nvSpPr>
          <p:cNvPr id="14" name="Rectangle 13"/>
          <p:cNvSpPr/>
          <p:nvPr/>
        </p:nvSpPr>
        <p:spPr>
          <a:xfrm>
            <a:off x="9445752" y="1892807"/>
            <a:ext cx="2011680" cy="603504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技术比选与场景结果</a:t>
            </a:r>
            <a:endParaRPr lang="zh-CN" sz="1100"/>
          </a:p>
          <a:p>
            <a:pPr marL="0" indent="0" algn="ctr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关联方案及过程资料</a:t>
            </a:r>
            <a:endParaRPr lang="zh-CN" sz="110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2633472"/>
          <a:ext cx="6949440" cy="2363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序号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指标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有效记录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中位数 / 最大值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数据特征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铅 Pb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8,347 / 15,102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高浓度重金属输入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2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铜 Cu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808 / 1,279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与其他元素共同诊断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3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砷 As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2,020 / 12,420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保留极端值标记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锌 Zn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3,226 / 5,099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关联用途参照解释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1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5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pH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中位6.9</a:t>
                      </a:r>
                      <a:endParaRPr lang="zh-CN" sz="1100"/>
                    </a:p>
                    <a:p>
                      <a:pPr marL="0" indent="0" algn="ctr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范围2.1–8.3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100" b="0" i="0" dirty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保留采样记录差异</a:t>
                      </a:r>
                      <a:endParaRPr lang="zh-CN" sz="110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" y="5010912"/>
            <a:ext cx="69494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100" b="0" i="0" dirty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单位：重金属为mg/kg；pH无量纲。统计值按上传原表重算并四舍五入，保留极端值及单位核对信息。</a:t>
            </a:r>
            <a:endParaRPr lang="zh-CN" sz="1100"/>
          </a:p>
        </p:txBody>
      </p:sp>
      <p:sp>
        <p:nvSpPr>
          <p:cNvPr id="17" name="面板-M：决策点局部 SHAP 份额"/>
          <p:cNvSpPr/>
          <p:nvPr/>
        </p:nvSpPr>
        <p:spPr>
          <a:xfrm>
            <a:off x="7909560" y="2633472"/>
            <a:ext cx="352044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8" name="面板标题-M：决策点局部 SHAP 份额"/>
          <p:cNvSpPr/>
          <p:nvPr/>
        </p:nvSpPr>
        <p:spPr>
          <a:xfrm>
            <a:off x="7909560" y="2633472"/>
            <a:ext cx="3520440" cy="3474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4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障碍诊断与方案推荐</a:t>
            </a:r>
            <a:endParaRPr lang="zh-CN" sz="1400"/>
          </a:p>
        </p:txBody>
      </p:sp>
      <p:sp>
        <p:nvSpPr>
          <p:cNvPr id="20" name="Rectangle 19"/>
          <p:cNvSpPr/>
          <p:nvPr/>
        </p:nvSpPr>
        <p:spPr>
          <a:xfrm>
            <a:off x="777240" y="5650992"/>
            <a:ext cx="10652760" cy="804672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已形成技术匹配示例：植物修复、农艺调控、固化/稳定化、客土/换土与土壤淋洗。</a:t>
            </a:r>
            <a:endParaRPr lang="zh-CN" sz="14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候选技术结合污染形态、目标用途、场地条件与成本进行比较，为利用方案讨论提供依据。</a:t>
            </a:r>
            <a:endParaRPr lang="zh-CN" sz="1400"/>
          </a:p>
        </p:txBody>
      </p:sp>
      <p:sp>
        <p:nvSpPr>
          <p:cNvPr id="200" name="补充说明 200"/>
          <p:cNvSpPr txBox="1"/>
          <p:nvPr/>
        </p:nvSpPr>
        <p:spPr>
          <a:xfrm>
            <a:off x="8028432" y="3099816"/>
            <a:ext cx="3182112" cy="2368296"/>
          </a:xfrm>
          <a:prstGeom prst="rect">
            <a:avLst/>
          </a:prstGeom>
          <a:noFill/>
          <a:ln>
            <a:noFill/>
          </a:ln>
        </p:spPr>
        <p:txBody>
          <a:bodyPr wrap="square" lIns="40000" tIns="20000" rIns="30000" bIns="1000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zh-CN" sz="13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诊断记录关注铅、铜、砷、锌及pH。</a:t>
            </a:r>
            <a:endParaRPr lang="zh-CN" sz="1300"/>
          </a:p>
          <a:p>
            <a:pPr marL="0" indent="0">
              <a:spcAft>
                <a:spcPts val="200"/>
              </a:spcAft>
              <a:buNone/>
            </a:pPr>
            <a:endParaRPr lang="zh-CN" sz="1300"/>
          </a:p>
          <a:p>
            <a:pPr marL="0" indent="0">
              <a:spcAft>
                <a:spcPts val="200"/>
              </a:spcAft>
              <a:buNone/>
            </a:pPr>
            <a:r>
              <a:rPr lang="zh-CN" sz="13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关联重点障碍与技术库，展示候选技术和匹配依据。</a:t>
            </a:r>
            <a:endParaRPr lang="zh-CN" sz="1300"/>
          </a:p>
          <a:p>
            <a:pPr marL="0" indent="0">
              <a:spcAft>
                <a:spcPts val="200"/>
              </a:spcAft>
              <a:buNone/>
            </a:pPr>
            <a:endParaRPr lang="zh-CN" sz="1300"/>
          </a:p>
          <a:p>
            <a:pPr marL="0" indent="0">
              <a:spcAft>
                <a:spcPts val="200"/>
              </a:spcAft>
              <a:buNone/>
            </a:pPr>
            <a:r>
              <a:rPr lang="zh-CN" sz="1300" b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结合场景数据、用途条件及技术适用性，支持方案讨论。</a:t>
            </a:r>
            <a:endParaRPr lang="zh-CN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3. 全流程追溯：五阶段材料与监管展示</a:t>
            </a:r>
            <a:endParaRPr lang="zh-CN" sz="1900"/>
          </a:p>
        </p:txBody>
      </p:sp>
      <p:pic>
        <p:nvPicPr>
          <p:cNvPr id="1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484362"/>
            <a:ext cx="5257800" cy="2261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773437"/>
            <a:ext cx="5257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950" b="0" i="0">
                <a:solidFill>
                  <a:srgbClr val="595959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全流程追溯：场地 H 五阶段均有模拟材料与审核记录（v1.2.2 运行截图）</a:t>
            </a:r>
          </a:p>
        </p:txBody>
      </p:sp>
      <p:pic>
        <p:nvPicPr>
          <p:cNvPr id="16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485971"/>
            <a:ext cx="5212080" cy="30539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567356"/>
            <a:ext cx="5212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追溯报告“阶段→证据追溯”表：每份材料的 SHA-256 与上传者（模拟材料）</a:t>
            </a:r>
            <a:endParaRPr lang="zh-CN" sz="1000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5257800" cy="2286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调查评估：调查资料、检测表与诊断评价结果。</a:t>
            </a:r>
            <a:endParaRPr lang="zh-CN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方案审批：技术路线、审批意见与方案版本。</a:t>
            </a:r>
            <a:endParaRPr lang="zh-CN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施工监理：施工记录、材料台账与监理资料。</a:t>
            </a:r>
            <a:endParaRPr lang="zh-CN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效果评估：修复后检测与持续利用分析资料。</a:t>
            </a:r>
            <a:endParaRPr lang="zh-CN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后期管护：管护措施、监测与功能维护记录。</a:t>
            </a:r>
            <a:endParaRPr lang="zh-CN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阶段记录、附件与报告入口共同组织场地材料。</a:t>
            </a:r>
            <a:endParaRPr lang="zh-CN" sz="1200" dirty="0"/>
          </a:p>
        </p:txBody>
      </p:sp>
      <p:sp>
        <p:nvSpPr>
          <p:cNvPr id="14" name="Rectangle 13"/>
          <p:cNvSpPr/>
          <p:nvPr/>
        </p:nvSpPr>
        <p:spPr>
          <a:xfrm>
            <a:off x="6217920" y="5074920"/>
            <a:ext cx="5212080" cy="1371600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管理应用</a:t>
            </a:r>
            <a:endParaRPr lang="zh-CN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4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企业填报、模拟审核员审核或退回（须写原因）、监管只读；操作人取自登录账户，重启后状态与附件保持。演示材料与审核人均为模拟，不代表真实批复。</a:t>
            </a:r>
            <a:endParaRPr lang="zh-CN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4. 系统管理：用户权限与运行保障</a:t>
            </a:r>
            <a:endParaRPr lang="zh-CN" sz="1900"/>
          </a:p>
        </p:txBody>
      </p:sp>
      <p:sp>
        <p:nvSpPr>
          <p:cNvPr id="200" name="用户角色">
            <a:extLst>
              <a:ext uri="{FF2B5EF4-FFF2-40B4-BE49-F238E27FC236}">
                <a16:creationId xmlns:a16="http://schemas.microsoft.com/office/drawing/2014/main" id="{752B9C4E-C748-41C4-93D1-3B54EB8510E3}"/>
              </a:ext>
            </a:extLst>
          </p:cNvPr>
          <p:cNvSpPr>
            <a:spLocks noGrp="1"/>
          </p:cNvSpPr>
          <p:nvPr/>
        </p:nvSpPr>
        <p:spPr>
          <a:xfrm>
            <a:off x="777240" y="1499616"/>
            <a:ext cx="10652760" cy="36576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四类用户与分级使用</a:t>
            </a:r>
          </a:p>
        </p:txBody>
      </p:sp>
      <p:sp>
        <p:nvSpPr>
          <p:cNvPr id="201" name="角色0">
            <a:extLst>
              <a:ext uri="{FF2B5EF4-FFF2-40B4-BE49-F238E27FC236}">
                <a16:creationId xmlns:a16="http://schemas.microsoft.com/office/drawing/2014/main" id="{97AABF3E-B52C-4E1C-B063-200FF06CDACA}"/>
              </a:ext>
            </a:extLst>
          </p:cNvPr>
          <p:cNvSpPr>
            <a:spLocks noGrp="1"/>
          </p:cNvSpPr>
          <p:nvPr/>
        </p:nvSpPr>
        <p:spPr>
          <a:xfrm>
            <a:off x="777240" y="1993392"/>
            <a:ext cx="2514600" cy="393192"/>
          </a:xfrm>
          <a:prstGeom prst="rect">
            <a:avLst/>
          </a:prstGeom>
          <a:solidFill>
            <a:srgbClr val="A8502A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管理员</a:t>
            </a:r>
          </a:p>
        </p:txBody>
      </p:sp>
      <p:sp>
        <p:nvSpPr>
          <p:cNvPr id="202" name="职责0">
            <a:extLst>
              <a:ext uri="{FF2B5EF4-FFF2-40B4-BE49-F238E27FC236}">
                <a16:creationId xmlns:a16="http://schemas.microsoft.com/office/drawing/2014/main" id="{EEA20516-6EC8-43A1-8428-F92F658145A2}"/>
              </a:ext>
            </a:extLst>
          </p:cNvPr>
          <p:cNvSpPr>
            <a:spLocks noGrp="1"/>
          </p:cNvSpPr>
          <p:nvPr/>
        </p:nvSpPr>
        <p:spPr>
          <a:xfrm>
            <a:off x="777240" y="2414016"/>
            <a:ext cx="2514600" cy="39319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账户、权限与日常维护</a:t>
            </a:r>
          </a:p>
        </p:txBody>
      </p:sp>
      <p:sp>
        <p:nvSpPr>
          <p:cNvPr id="203" name="角色1">
            <a:extLst>
              <a:ext uri="{FF2B5EF4-FFF2-40B4-BE49-F238E27FC236}">
                <a16:creationId xmlns:a16="http://schemas.microsoft.com/office/drawing/2014/main" id="{81FBB82F-523E-4385-A3D3-0FA0AB2F9406}"/>
              </a:ext>
            </a:extLst>
          </p:cNvPr>
          <p:cNvSpPr>
            <a:spLocks noGrp="1"/>
          </p:cNvSpPr>
          <p:nvPr/>
        </p:nvSpPr>
        <p:spPr>
          <a:xfrm>
            <a:off x="3474720" y="1993392"/>
            <a:ext cx="2514600" cy="393192"/>
          </a:xfrm>
          <a:prstGeom prst="rect">
            <a:avLst/>
          </a:prstGeom>
          <a:solidFill>
            <a:srgbClr val="A8502A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企业用户</a:t>
            </a:r>
          </a:p>
        </p:txBody>
      </p:sp>
      <p:sp>
        <p:nvSpPr>
          <p:cNvPr id="204" name="职责1">
            <a:extLst>
              <a:ext uri="{FF2B5EF4-FFF2-40B4-BE49-F238E27FC236}">
                <a16:creationId xmlns:a16="http://schemas.microsoft.com/office/drawing/2014/main" id="{80018B2F-FB3D-4811-B3F5-65E79951BDCF}"/>
              </a:ext>
            </a:extLst>
          </p:cNvPr>
          <p:cNvSpPr>
            <a:spLocks noGrp="1"/>
          </p:cNvSpPr>
          <p:nvPr/>
        </p:nvSpPr>
        <p:spPr>
          <a:xfrm>
            <a:off x="3474720" y="2414016"/>
            <a:ext cx="2514600" cy="39319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场地数据与项目资料</a:t>
            </a:r>
          </a:p>
        </p:txBody>
      </p:sp>
      <p:sp>
        <p:nvSpPr>
          <p:cNvPr id="205" name="角色2">
            <a:extLst>
              <a:ext uri="{FF2B5EF4-FFF2-40B4-BE49-F238E27FC236}">
                <a16:creationId xmlns:a16="http://schemas.microsoft.com/office/drawing/2014/main" id="{49536F68-FD08-48E0-9E3F-FF2ABC654788}"/>
              </a:ext>
            </a:extLst>
          </p:cNvPr>
          <p:cNvSpPr>
            <a:spLocks noGrp="1"/>
          </p:cNvSpPr>
          <p:nvPr/>
        </p:nvSpPr>
        <p:spPr>
          <a:xfrm>
            <a:off x="6172200" y="1993392"/>
            <a:ext cx="2514600" cy="393192"/>
          </a:xfrm>
          <a:prstGeom prst="rect">
            <a:avLst/>
          </a:prstGeom>
          <a:solidFill>
            <a:srgbClr val="A8502A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第三方</a:t>
            </a:r>
          </a:p>
        </p:txBody>
      </p:sp>
      <p:sp>
        <p:nvSpPr>
          <p:cNvPr id="206" name="职责2">
            <a:extLst>
              <a:ext uri="{FF2B5EF4-FFF2-40B4-BE49-F238E27FC236}">
                <a16:creationId xmlns:a16="http://schemas.microsoft.com/office/drawing/2014/main" id="{6DA014AF-DDAD-4C45-B49E-EFC100EF9292}"/>
              </a:ext>
            </a:extLst>
          </p:cNvPr>
          <p:cNvSpPr>
            <a:spLocks noGrp="1"/>
          </p:cNvSpPr>
          <p:nvPr/>
        </p:nvSpPr>
        <p:spPr>
          <a:xfrm>
            <a:off x="6172200" y="2414016"/>
            <a:ext cx="2514600" cy="39319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检测与技术资料</a:t>
            </a:r>
          </a:p>
        </p:txBody>
      </p:sp>
      <p:sp>
        <p:nvSpPr>
          <p:cNvPr id="207" name="角色3">
            <a:extLst>
              <a:ext uri="{FF2B5EF4-FFF2-40B4-BE49-F238E27FC236}">
                <a16:creationId xmlns:a16="http://schemas.microsoft.com/office/drawing/2014/main" id="{05AEEBD0-BB29-4B8A-8B37-165245BDF574}"/>
              </a:ext>
            </a:extLst>
          </p:cNvPr>
          <p:cNvSpPr>
            <a:spLocks noGrp="1"/>
          </p:cNvSpPr>
          <p:nvPr/>
        </p:nvSpPr>
        <p:spPr>
          <a:xfrm>
            <a:off x="8869680" y="1993392"/>
            <a:ext cx="2514600" cy="393192"/>
          </a:xfrm>
          <a:prstGeom prst="rect">
            <a:avLst/>
          </a:prstGeom>
          <a:solidFill>
            <a:srgbClr val="A8502A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监管人员</a:t>
            </a:r>
          </a:p>
        </p:txBody>
      </p:sp>
      <p:sp>
        <p:nvSpPr>
          <p:cNvPr id="208" name="职责3">
            <a:extLst>
              <a:ext uri="{FF2B5EF4-FFF2-40B4-BE49-F238E27FC236}">
                <a16:creationId xmlns:a16="http://schemas.microsoft.com/office/drawing/2014/main" id="{C10CA2C1-B5B2-4362-BFFF-62A1307BCF5F}"/>
              </a:ext>
            </a:extLst>
          </p:cNvPr>
          <p:cNvSpPr>
            <a:spLocks noGrp="1"/>
          </p:cNvSpPr>
          <p:nvPr/>
        </p:nvSpPr>
        <p:spPr>
          <a:xfrm>
            <a:off x="8869680" y="2414016"/>
            <a:ext cx="2514600" cy="39319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查阅评价与过程材料</a:t>
            </a:r>
          </a:p>
        </p:txBody>
      </p:sp>
      <p:sp>
        <p:nvSpPr>
          <p:cNvPr id="209" name="管理功能">
            <a:extLst>
              <a:ext uri="{FF2B5EF4-FFF2-40B4-BE49-F238E27FC236}">
                <a16:creationId xmlns:a16="http://schemas.microsoft.com/office/drawing/2014/main" id="{A50E06B2-387A-460A-BD00-371A4A45CDE1}"/>
              </a:ext>
            </a:extLst>
          </p:cNvPr>
          <p:cNvSpPr>
            <a:spLocks noGrp="1"/>
          </p:cNvSpPr>
          <p:nvPr/>
        </p:nvSpPr>
        <p:spPr>
          <a:xfrm>
            <a:off x="777240" y="3035808"/>
            <a:ext cx="10652760" cy="36576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管理功能与运行保障</a:t>
            </a:r>
          </a:p>
        </p:txBody>
      </p:sp>
      <p:graphicFrame>
        <p:nvGraphicFramePr>
          <p:cNvPr id="210" name="表格 209">
            <a:extLst>
              <a:ext uri="{FF2B5EF4-FFF2-40B4-BE49-F238E27FC236}">
                <a16:creationId xmlns:a16="http://schemas.microsoft.com/office/drawing/2014/main" id="{EA20CFB9-9B24-49AD-9F69-13D7A8126610}"/>
              </a:ext>
            </a:extLst>
          </p:cNvPr>
          <p:cNvGraphicFramePr/>
          <p:nvPr/>
        </p:nvGraphicFramePr>
        <p:xfrm>
          <a:off x="777240" y="3538728"/>
          <a:ext cx="10652760" cy="2240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管理功能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已形成的系统内容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使用与维护作用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用户与权限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四类用户权限、账户管理与登录安全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支持分级使用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操作日志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记录操作人、时间、对象和操作内容，支持查询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支持操作复核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数据保护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联系方式字段加密（AES-256-GCM）、数据库备份与恢复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保护与维护场地数据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运行维护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启动检查、配置维护和配套运维文档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支持软件部署与维护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管理作用">
            <a:extLst>
              <a:ext uri="{FF2B5EF4-FFF2-40B4-BE49-F238E27FC236}">
                <a16:creationId xmlns:a16="http://schemas.microsoft.com/office/drawing/2014/main" id="{CB620BF2-5B8F-4060-8764-841889D9FE7C}"/>
              </a:ext>
            </a:extLst>
          </p:cNvPr>
          <p:cNvSpPr>
            <a:spLocks noGrp="1"/>
          </p:cNvSpPr>
          <p:nvPr/>
        </p:nvSpPr>
        <p:spPr>
          <a:xfrm>
            <a:off x="777240" y="5934456"/>
            <a:ext cx="10652760" cy="48463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15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权限与日志支持分级使用和操作复核，加密与备份支撑数据保护和日常维护。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四、课题成果与应用价值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成果应用：三类场景适配与功能验证</a:t>
            </a:r>
            <a:endParaRPr lang="zh-CN" sz="1900"/>
          </a:p>
        </p:txBody>
      </p:sp>
      <p:graphicFrame>
        <p:nvGraphicFramePr>
          <p:cNvPr id="202" name="表格 201"/>
          <p:cNvGraphicFramePr/>
          <p:nvPr/>
        </p:nvGraphicFramePr>
        <p:xfrm>
          <a:off x="777240" y="1499616"/>
          <a:ext cx="10652760" cy="2468880"/>
        </p:xfrm>
        <a:graphic>
          <a:graphicData uri="http://schemas.openxmlformats.org/drawingml/2006/table">
            <a:tbl>
              <a:tblPr/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应用场景</a:t>
                      </a:r>
                    </a:p>
                  </a:txBody>
                  <a:tcPr marL="76200" marR="76200" marT="76200" marB="76200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原表记录</a:t>
                      </a:r>
                    </a:p>
                  </a:txBody>
                  <a:tcPr marL="76200" marR="76200" marT="76200" marB="76200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数据结构与主要对象</a:t>
                      </a:r>
                    </a:p>
                  </a:txBody>
                  <a:tcPr marL="76200" marR="76200" marT="76200" marB="76200"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已完成的系统应用</a:t>
                      </a:r>
                    </a:p>
                  </a:txBody>
                  <a:tcPr marL="76200" marR="76200" marT="76200" marB="76200"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乡村建设用地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复合污染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8条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镉、石油烃，土壤理化指标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包含土地类型和土层信息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统一检测表结构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关联污染与功能指标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南京栖霞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有机污染</a:t>
                      </a:r>
                    </a:p>
                  </a:txBody>
                  <a:tcPr marL="76200" marR="76200" marT="76200" marB="76200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49条</a:t>
                      </a:r>
                    </a:p>
                  </a:txBody>
                  <a:tcPr marL="76200" marR="76200" marT="76200" marB="76200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主表32种有机物栏目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挥发性/半挥发性半定量附表</a:t>
                      </a:r>
                    </a:p>
                  </a:txBody>
                  <a:tcPr marL="76200" marR="76200" marT="76200" marB="76200"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有机物名称映射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保留未知、缺测和附表记录</a:t>
                      </a:r>
                    </a:p>
                  </a:txBody>
                  <a:tcPr marL="76200" marR="76200" marT="76200" marB="76200"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云南个旧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重金属污染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134条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铅、砷、铜、锌等元素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pH及土壤养分指标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采样记录导入与障碍展示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逐点参照和场地统计</a:t>
                      </a:r>
                    </a:p>
                  </a:txBody>
                  <a:tcPr marL="76200" marR="762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3" name="数量"/>
          <p:cNvSpPr>
            <a:spLocks noGrp="1"/>
          </p:cNvSpPr>
          <p:nvPr/>
        </p:nvSpPr>
        <p:spPr>
          <a:xfrm>
            <a:off x="822960" y="4233672"/>
            <a:ext cx="10561320" cy="713232"/>
          </a:xfrm>
          <a:prstGeom prst="rect">
            <a:avLst/>
          </a:prstGeom>
          <a:solidFill>
            <a:srgbClr val="FBF3E8"/>
          </a:solidFill>
          <a:ln w="0">
            <a:noFill/>
            <a:prstDash val="solid"/>
          </a:ln>
        </p:spPr>
        <p:txBody>
          <a:bodyPr wrap="square" lIns="57150" tIns="57150" rIns="57150" bIns="57150" anchor="ctr">
            <a:noAutofit/>
          </a:bodyPr>
          <a:lstStyle>
            <a:defPPr algn="l">
              <a:defRPr sz="23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23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2300" b="1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3类场景        191条采样记录        3,979条导入测值</a:t>
            </a:r>
          </a:p>
        </p:txBody>
      </p:sp>
      <p:sp>
        <p:nvSpPr>
          <p:cNvPr id="204" name="验证标题"/>
          <p:cNvSpPr>
            <a:spLocks noGrp="1"/>
          </p:cNvSpPr>
          <p:nvPr/>
        </p:nvSpPr>
        <p:spPr>
          <a:xfrm>
            <a:off x="822960" y="5129784"/>
            <a:ext cx="10561320" cy="338328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600" b="1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已形成关键业务验证记录</a:t>
            </a:r>
          </a:p>
        </p:txBody>
      </p:sp>
      <p:sp>
        <p:nvSpPr>
          <p:cNvPr id="205" name="验证说明"/>
          <p:cNvSpPr>
            <a:spLocks noGrp="1"/>
          </p:cNvSpPr>
          <p:nvPr/>
        </p:nvSpPr>
        <p:spPr>
          <a:xfrm>
            <a:off x="877824" y="5559552"/>
            <a:ext cx="10442448" cy="5577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57150" rIns="57150" bIns="57150" anchor="t">
            <a:noAutofit/>
          </a:bodyPr>
          <a:lstStyle>
            <a:def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defPPr>
          </a:lstStyle>
          <a:p>
            <a:pPr algn="l">
              <a:def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defRPr>
            </a:pPr>
            <a:r>
              <a:rPr sz="1400" b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v1.2.2（提交 68a5275）：后端自动化测试 663 项通过、12 项跳过；Windows 实装验收全流程 303/303、重启 34/34、v1.2.1→v1.2.2 升级 16/16、v1.1.0 升级 11/11、便携版与标准账户各 7/7；三个原始场地回归通过。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四、课题成果与应用价值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成果总结：数据、方法、软件与应用价值</a:t>
            </a:r>
            <a:endParaRPr lang="zh-CN" sz="1900"/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777240" y="1481328"/>
            <a:ext cx="3429000" cy="4114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形成成果</a:t>
            </a:r>
            <a:endParaRPr lang="zh-CN" sz="1500" dirty="0"/>
          </a:p>
        </p:txBody>
      </p:sp>
      <p:sp>
        <p:nvSpPr>
          <p:cNvPr id="6" name="列-已交付（可演示 / 在库）"/>
          <p:cNvSpPr/>
          <p:nvPr>
            <p:custDataLst>
              <p:tags r:id="rId2"/>
            </p:custDataLst>
          </p:nvPr>
        </p:nvSpPr>
        <p:spPr>
          <a:xfrm>
            <a:off x="777240" y="1892807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68680" y="1965960"/>
            <a:ext cx="3246120" cy="3520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285750" indent="-285750" algn="l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b="0" i="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统一障碍因子知识库403条记录，区分生产与生态用途。</a:t>
            </a:r>
            <a:endParaRPr lang="zh-CN" sz="1400" dirty="0"/>
          </a:p>
          <a:p>
            <a:pPr marL="285750" indent="-285750" algn="l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b="0" i="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文献训练数据、模型工件及三类场景数据接入。</a:t>
            </a:r>
            <a:endParaRPr lang="zh-CN" sz="1400" dirty="0"/>
          </a:p>
          <a:p>
            <a:pPr marL="285750" indent="-285750" algn="just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b="0" i="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软件源码、模型文件、数据库脚本和安装程序。</a:t>
            </a:r>
            <a:endParaRPr lang="zh-CN" sz="1400" dirty="0"/>
          </a:p>
          <a:p>
            <a:pPr marL="285750" indent="-285750" algn="l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b="0" i="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需求、设计、用户与运维文档，软件著作权申请材料。</a:t>
            </a:r>
            <a:endParaRPr lang="zh-CN" sz="1400" dirty="0"/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4389120" y="1481328"/>
            <a:ext cx="3429000" cy="4114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研究方法集成</a:t>
            </a:r>
            <a:endParaRPr lang="zh-CN" sz="1500" dirty="0"/>
          </a:p>
        </p:txBody>
      </p:sp>
      <p:sp>
        <p:nvSpPr>
          <p:cNvPr id="9" name="列-交付前须完成（按优先级）"/>
          <p:cNvSpPr/>
          <p:nvPr>
            <p:custDataLst>
              <p:tags r:id="rId5"/>
            </p:custDataLst>
          </p:nvPr>
        </p:nvSpPr>
        <p:spPr>
          <a:xfrm>
            <a:off x="4389120" y="1892807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480559" y="1965960"/>
            <a:ext cx="3246120" cy="3520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285750" indent="-285750" algn="just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阈值参照与五分量KOS排序，使障碍名单具有解释依据。</a:t>
            </a:r>
          </a:p>
          <a:p>
            <a:pPr marL="285750" indent="-285750" algn="just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生产/生态双轨分等与赋权，组织用途条件和限制因素。</a:t>
            </a:r>
          </a:p>
          <a:p>
            <a:pPr marL="285750" indent="-285750" algn="just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安全性与经济性SSUI体系，承接修复后持续利用任务。</a:t>
            </a:r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8001000" y="1481328"/>
            <a:ext cx="3429000" cy="41148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场景应用</a:t>
            </a:r>
            <a:endParaRPr lang="zh-CN" sz="1500" dirty="0"/>
          </a:p>
        </p:txBody>
      </p:sp>
      <p:sp>
        <p:nvSpPr>
          <p:cNvPr id="12" name="列-需老师 / 甲方确认"/>
          <p:cNvSpPr/>
          <p:nvPr>
            <p:custDataLst>
              <p:tags r:id="rId8"/>
            </p:custDataLst>
          </p:nvPr>
        </p:nvSpPr>
        <p:spPr>
          <a:xfrm>
            <a:off x="8001000" y="1892807"/>
            <a:ext cx="3429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8092440" y="1965960"/>
            <a:ext cx="3246120" cy="3520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乡村、栖霞与个旧三类场景展示数据适配与分析应用。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将输入、参照、计算结果和候选技术关联起来。</a:t>
            </a:r>
          </a:p>
          <a:p>
            <a:pPr marL="285750" indent="-285750" algn="just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五阶段材料、地图与统计图支撑全过程查看与复核。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669280"/>
            <a:ext cx="10652760" cy="777240"/>
          </a:xfrm>
          <a:prstGeom prst="rect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600" b="1" i="0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已完成场景数据接入、关键障碍识别、生态—生产功能评价、候选技术关联与过程材料管理的系统集成。</a:t>
            </a:r>
            <a:endParaRPr lang="zh-CN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600" b="1" i="0" dirty="0">
                <a:solidFill>
                  <a:srgbClr val="A8502A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当前为 v1.2.2 收尾候选版：待甲方 Windows 10/11 实机验收与课题组方法确认；尚无实测修复后数据。</a:t>
            </a:r>
            <a:endParaRPr lang="zh-CN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虚线框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3" name="标题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2800" b="1" i="0" dirty="0">
                <a:solidFill>
                  <a:srgbClr val="00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三、主要功能</a:t>
            </a:r>
            <a:endParaRPr lang="zh-CN" sz="2800"/>
          </a:p>
        </p:txBody>
      </p:sp>
      <p:sp>
        <p:nvSpPr>
          <p:cNvPr id="4" name="要点横幅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900" b="1" i="0" dirty="0">
                <a:solidFill>
                  <a:srgbClr val="FFFF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2. 决策管理：修复后利用结论（用途选择与结论分支）</a:t>
            </a:r>
            <a:endParaRPr lang="zh-CN" sz="1900"/>
          </a:p>
        </p:txBody>
      </p:sp>
      <p:graphicFrame>
        <p:nvGraphicFramePr>
          <p:cNvPr id="210" name="表格 209">
            <a:extLst>
              <a:ext uri="{FF2B5EF4-FFF2-40B4-BE49-F238E27FC236}">
                <a16:creationId xmlns:a16="http://schemas.microsoft.com/office/drawing/2014/main" id="{EA20CFB9-9B24-49AD-9F69-13D7A8126610}"/>
              </a:ext>
            </a:extLst>
          </p:cNvPr>
          <p:cNvGraphicFramePr/>
          <p:nvPr/>
        </p:nvGraphicFramePr>
        <p:xfrm>
          <a:off x="777240" y="1499616"/>
          <a:ext cx="5989320" cy="30723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判定条件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演示场地</a:t>
                      </a:r>
                    </a:p>
                  </a:txBody>
                  <a:tcPr anchor="ctr">
                    <a:solidFill>
                      <a:srgbClr val="A85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两轨门禁通过且评分支持（用途已明确）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生产门禁通过/条件通过且评分支持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生态门禁通过且评分支持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超管制值等门禁否决，或评分不支持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必测项缺测、SSUI 定义域外等无法判定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需人工选择用途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未选农用地类型/生态用地类别：只给假设性保守筛查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任一场地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法规适用性待确认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选择“非建设用地生态用途”，GB 36600 适用性待确认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任一场地</a:t>
                      </a:r>
                    </a:p>
                  </a:txBody>
                  <a:tcPr anchor="ctr">
                    <a:solidFill>
                      <a:srgbClr val="FA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1" name="Picture 2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99616"/>
            <a:ext cx="4480560" cy="21309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0" y="3667098"/>
            <a:ext cx="4480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000" b="0" i="0" dirty="0">
                <a:solidFill>
                  <a:srgbClr val="66666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图  修复后利用结论（v1.2.2 运行截图，演示场地 A：用途已明确）</a:t>
            </a:r>
            <a:endParaRPr lang="zh-CN" sz="1000"/>
          </a:p>
        </p:txBody>
      </p:sp>
      <p:sp>
        <p:nvSpPr>
          <p:cNvPr id="13" name="Rectangle 12"/>
          <p:cNvSpPr/>
          <p:nvPr/>
        </p:nvSpPr>
        <p:spPr>
          <a:xfrm>
            <a:off x="777240" y="4892040"/>
            <a:ext cx="106527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200" b="1" i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先明确用途，再过法规门禁（GB 15618 / GB 36600），门禁不能被任何评分抵消；通过后再看功能评分（修复后用 SSUI）。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106527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超管制值等与用途无关的否决保留；“需人工选择用途”时界面单列假设性保守筛查，不作正式结论。</a:t>
            </a:r>
            <a:endParaRPr lang="zh-CN" sz="1200"/>
          </a:p>
          <a:p>
            <a:pPr marL="0" indent="0" algn="l">
              <a:spcAft>
                <a:spcPts val="20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结论为系统辅助判断（方法状态 provisional），不构成正式利用许可；尚无实测修复后数据，五个分支在合成数据上演示。</a:t>
            </a:r>
            <a:endParaRPr lang="zh-CN" sz="12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08]}"/>
  <p:tag name="OPCH-656539E3A293D0DC103845F1538B416C224267D14D664241FA0781F8C7F4ECC3" val="[{&quot;GradientColorId&quot;:&quot;&quot;,&quot;IsFree&quot;:true,&quot;IsGradient&quot;:false,&quot;ImagePath&quot;:&quot;&quot;,&quot;GradientColor&quot;:null,&quot;SimpleColor&quot;:&quot;#E84C22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48,&quot;left&quot;:635.76,&quot;top&quot;:154.8,&quot;width&quot;:246.9600000000000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0.8,&quot;left&quot;:61.2,&quot;top&quot;:116.64000000000001,&quot;width&quot;:610.559921259842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3999212598425,&quot;left&quot;:61.2,&quot;top&quot;:116.64000000000001,&quot;width&quot;:838.8}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7195</Words>
  <Application>Microsoft Office PowerPoint</Application>
  <PresentationFormat>宽屏</PresentationFormat>
  <Paragraphs>491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黑体</vt:lpstr>
      <vt:lpstr>微软雅黑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Xiaojie HU</dc:creator>
  <cp:lastModifiedBy>mac</cp:lastModifiedBy>
  <cp:revision>2239</cp:revision>
  <cp:lastPrinted>2026-10-08T13:41:22Z</cp:lastPrinted>
  <dcterms:created xsi:type="dcterms:W3CDTF">2026-10-08T13:41:22Z</dcterms:created>
  <dcterms:modified xsi:type="dcterms:W3CDTF">2026-10-08T15:04:12Z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B3C4524D4F23C22F7037D768D5E760F1_43</vt:lpwstr>
  </property>
  <property fmtid="{D5CDD505-2E9C-101B-9397-08002B2CF9AE}" pid="3" name="KSOProductBuildVer">
    <vt:lpwstr>2052-12.1.26016.26016</vt:lpwstr>
  </property>
</Properties>
</file>